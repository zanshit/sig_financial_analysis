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80"/>
  </p:notesMasterIdLst>
  <p:handoutMasterIdLst>
    <p:handoutMasterId r:id="rId81"/>
  </p:handoutMasterIdLst>
  <p:sldIdLst>
    <p:sldId id="290" r:id="rId17"/>
  </p:sldIdLst>
  <p:sldSz cx="12192000" cy="6858000"/>
  <p:notesSz cx="6858000" cy="9144000"/>
  <p:embeddedFontLst>
    <p:embeddedFont>
      <p:font typeface="Univers" panose="020B0503020202020204" pitchFamily="34" charset="0"/>
      <p:regular r:id="rId98"/>
      <p:bold r:id="rId99"/>
      <p:italic r:id="rId100"/>
    </p:embeddedFont>
    <p:embeddedFont>
      <p:font typeface="Univers Light" panose="020B0403020202020204" pitchFamily="34" charset="0"/>
      <p:regular r:id="rId101"/>
    </p:embeddedFont>
  </p:embeddedFontLst>
  <p:custDataLst>
    <p:tags r:id="rId10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2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0" d="100"/>
          <a:sy n="60" d="100"/>
        </p:scale>
        <p:origin x="597" y="5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7" Type="http://schemas.openxmlformats.org/officeDocument/2006/relationships/slide" Target="slides/slide13.xml"/><Relationship Id="rId80" Type="http://schemas.openxmlformats.org/officeDocument/2006/relationships/notesMaster" Target="notesMasters/notesMaster1.xml"/><Relationship Id="rId81" Type="http://schemas.openxmlformats.org/officeDocument/2006/relationships/handoutMaster" Target="handoutMasters/handoutMaster1.xml"/><Relationship Id="rId98" Type="http://schemas.openxmlformats.org/officeDocument/2006/relationships/font" Target="fonts/font17.fntdata"/><Relationship Id="rId99" Type="http://schemas.openxmlformats.org/officeDocument/2006/relationships/font" Target="fonts/font18.fntdata"/><Relationship Id="rId100" Type="http://schemas.openxmlformats.org/officeDocument/2006/relationships/font" Target="fonts/font19.fntdata"/><Relationship Id="rId101" Type="http://schemas.openxmlformats.org/officeDocument/2006/relationships/font" Target="fonts/font20.fntdata"/><Relationship Id="rId108" Type="http://schemas.openxmlformats.org/officeDocument/2006/relationships/tags" Target="tags/tag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6/11/relationships/changesInfo" Target="changesInfos/changesInfo1.xml"/><Relationship Id="rId114" Type="http://schemas.microsoft.com/office/2015/10/relationships/revisionInfo" Target="revisionInfo.xml"/><Relationship Id="rId11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stacked"/>
        <c:ser>
          <c:idx val="0"/>
          <c:order val="0"/>
          <c:tx>
            <c:strRef>
              <c:f>Sheet1!$B$1</c:f>
              <c:strCache>
                <c:ptCount val="1"/>
                <c:pt idx="0">
                  <c:v>Trade payables</c:v>
                </c:pt>
              </c:strCache>
            </c:strRef>
          </c:tx>
          <c:spPr>
            <a:solidFill>
              <a:srgbClr val="1E64B0"/>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Sheet1!$B$2:$B$4</c:f>
              <c:numCache>
                <c:formatCode>0"%"</c:formatCode>
                <c:ptCount val="3"/>
                <c:pt idx="0">
                  <c:v>48.53284802676568</c:v>
                </c:pt>
                <c:pt idx="1">
                  <c:v>44.974167844897494</c:v>
                </c:pt>
                <c:pt idx="2">
                  <c:v>14.342863190710773</c:v>
                </c:pt>
              </c:numCache>
            </c:numRef>
          </c:val>
        </c:ser>
        <c:ser>
          <c:idx val="1"/>
          <c:order val="1"/>
          <c:tx>
            <c:strRef>
              <c:f>Sheet1!$C$1</c:f>
              <c:strCache>
                <c:ptCount val="1"/>
                <c:pt idx="0">
                  <c:v>Short-term interest-bearing debt</c:v>
                </c:pt>
              </c:strCache>
            </c:strRef>
          </c:tx>
          <c:spPr>
            <a:solidFill>
              <a:srgbClr val="0F1F33"/>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Sheet1!$C$2:$C$4</c:f>
              <c:numCache>
                <c:formatCode>0"%"</c:formatCode>
                <c:ptCount val="3"/>
                <c:pt idx="0">
                  <c:v>24.616558219859392</c:v>
                </c:pt>
                <c:pt idx="1">
                  <c:v>24.367121522569683</c:v>
                </c:pt>
                <c:pt idx="2">
                  <c:v>12.673743479116453</c:v>
                </c:pt>
              </c:numCache>
            </c:numRef>
          </c:val>
        </c:ser>
        <c:ser>
          <c:idx val="2"/>
          <c:order val="2"/>
          <c:tx>
            <c:strRef>
              <c:f>Sheet1!$D$1</c:f>
              <c:strCache>
                <c:ptCount val="1"/>
                <c:pt idx="0">
                  <c:v>Customer advances and deposits</c:v>
                </c:pt>
              </c:strCache>
            </c:strRef>
          </c:tx>
          <c:spPr>
            <a:solidFill>
              <a:srgbClr val="69C6F0"/>
            </a:solidFill>
            <a:ln w="9525">
              <a:solidFill>
                <a:srgbClr val="FFFFFF"/>
              </a:solidFill>
            </a:ln>
          </c:spPr>
          <c:invertIfNegative val="0"/>
          <c:dLbls>
            <c:dLbl>
              <c:idx val="1"/>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Sheet1!$D$2:$D$4</c:f>
              <c:numCache>
                <c:formatCode>0"%"</c:formatCode>
                <c:ptCount val="3"/>
                <c:pt idx="0">
                  <c:v>0.5278487397491632</c:v>
                </c:pt>
                <c:pt idx="1">
                  <c:v>8.986136317936158</c:v>
                </c:pt>
                <c:pt idx="2">
                  <c:v>1.0189550661671236</c:v>
                </c:pt>
              </c:numCache>
            </c:numRef>
          </c:val>
        </c:ser>
        <c:ser>
          <c:idx val="3"/>
          <c:order val="3"/>
          <c:tx>
            <c:strRef>
              <c:f>Sheet1!$E$1</c:f>
              <c:strCache>
                <c:ptCount val="1"/>
                <c:pt idx="0">
                  <c:v>Other</c:v>
                </c:pt>
              </c:strCache>
            </c:strRef>
          </c:tx>
          <c:spPr>
            <a:solidFill>
              <a:srgbClr val="8C8C8C"/>
            </a:solidFill>
            <a:ln w="9525">
              <a:solidFill>
                <a:srgbClr val="FFFFFF"/>
              </a:solidFill>
            </a:ln>
          </c:spPr>
          <c:invertIfNegative val="0"/>
          <c:dLbls>
            <c:dLbl>
              <c:idx val="0"/>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Sheet1!$E$2:$E$4</c:f>
              <c:numCache>
                <c:formatCode>0"%"</c:formatCode>
                <c:ptCount val="3"/>
                <c:pt idx="0">
                  <c:v>16.726036649575658</c:v>
                </c:pt>
                <c:pt idx="1">
                  <c:v>12.530937343936408</c:v>
                </c:pt>
                <c:pt idx="2">
                  <c:v>26.39178237825373</c:v>
                </c:pt>
              </c:numCache>
            </c:numRef>
          </c:val>
        </c:ser>
        <c:ser>
          <c:idx val="4"/>
          <c:order val="4"/>
          <c:tx>
            <c:strRef>
              <c:f>Sheet1!$F$1</c:f>
              <c:strCache>
                <c:ptCount val="1"/>
                <c:pt idx="0">
                  <c:v>Total</c:v>
                </c:pt>
              </c:strCache>
            </c:strRef>
          </c:tx>
          <c:spPr>
            <a:noFill/>
            <a:ln>
              <a:noFill/>
            </a:ln>
          </c:spPr>
          <c:dLbls>
            <c:dLbl>
              <c:idx val="0"/>
              <c:tx>
                <c:rich>
                  <a:bodyPr/>
                  <a:lstStyle/>
                  <a:p>
                    <a:r>
                      <a:rPr sz="900" b="1" i="0">
                        <a:solidFill>
                          <a:srgbClr val="161616"/>
                        </a:solidFill>
                        <a:latin typeface="Univers Light"/>
                      </a:rPr>
                      <a:t>90%</a:t>
                    </a:r>
                  </a:p>
                </c:rich>
              </c:tx>
              <c:dLblPos val="inBase"/>
              <c:showLegendKey val="0"/>
              <c:showVal val="1"/>
              <c:showCatName val="0"/>
              <c:showSerName val="0"/>
              <c:showPercent val="0"/>
              <c:showBubbleSize val="0"/>
            </c:dLbl>
            <c:dLbl>
              <c:idx val="1"/>
              <c:tx>
                <c:rich>
                  <a:bodyPr/>
                  <a:lstStyle/>
                  <a:p>
                    <a:r>
                      <a:rPr sz="900" b="1" i="0">
                        <a:solidFill>
                          <a:srgbClr val="161616"/>
                        </a:solidFill>
                        <a:latin typeface="Univers Light"/>
                      </a:rPr>
                      <a:t>91%</a:t>
                    </a:r>
                  </a:p>
                </c:rich>
              </c:tx>
              <c:dLblPos val="inBase"/>
              <c:showLegendKey val="0"/>
              <c:showVal val="1"/>
              <c:showCatName val="0"/>
              <c:showSerName val="0"/>
              <c:showPercent val="0"/>
              <c:showBubbleSize val="0"/>
            </c:dLbl>
            <c:dLbl>
              <c:idx val="2"/>
              <c:tx>
                <c:rich>
                  <a:bodyPr/>
                  <a:lstStyle/>
                  <a:p>
                    <a:r>
                      <a:rPr sz="900" b="1" i="0">
                        <a:solidFill>
                          <a:srgbClr val="161616"/>
                        </a:solidFill>
                        <a:latin typeface="Univers Light"/>
                      </a:rPr>
                      <a:t>54%</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Sheet1!$F$2:$F$4</c:f>
              <c:numCache>
                <c:formatCode>0"%"</c:formatCode>
                <c:ptCount val="3"/>
                <c:pt idx="0">
                  <c:v>9</c:v>
                </c:pt>
                <c:pt idx="1">
                  <c:v>9</c:v>
                </c:pt>
                <c:pt idx="2">
                  <c:v>9</c:v>
                </c:pt>
              </c:numCache>
            </c:numRef>
          </c:val>
        </c:ser>
        <c:gapWidth val="120"/>
        <c:overlap val="10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104.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Definitions: debt due within a year = interest-bearing debt (bank loans, bonds, short-term loans, leases) due within 12 months. Quick ratio = (current assets minus inventory) over current liabilities. Operating cash flow includes interest paid for both companies. INTP customer advances = customer deposits.</a:t>
            </a:r>
          </a:p>
          <a:p>
            <a:r>
              <a:t>Like for like: removing customer advances and debt due within a year lifts SIG's current ratio from 1.10x to 1.74x, but INTP adjusted the same way is 2.45x (reported 1.84x). The gap is mostly supplier credit: trade payables equal 45% of current assets vs 14% at INTP.</a:t>
            </a:r>
          </a:p>
          <a:p>
            <a:r>
              <a:t>Operating cash Rp6.9 T to Rp3.7 T, EBITDA Rp8.6 T to Rp4.5 T.</a:t>
            </a:r>
          </a:p>
          <a:p>
            <a:r>
              <a:t>Stress test: cash plus FY25 operating cash over debt due, capex and dividends = 1.49x, 1.29x if operating cash falls 30%.</a:t>
            </a:r>
          </a:p>
          <a:p>
            <a:r>
              <a:t>Impact estimates (not on the slide): refinancing all debt due within a year lifts the current ratio to about 1.50x (1.46x excluding leases). A 50% payout at the FY22 to FY23 average profit keeps about Rp1.1 T a year. Each 5 fewer receivable days frees about Rp0.5 T.</a:t>
            </a:r>
          </a:p>
          <a:p>
            <a:r>
              <a:t>Evidence: PEFINDO affirmed idAAA stable on 11 Aug 2026. SIG cut obligations by Rp2.3 T in Jan to Jul 2026 (Stabilitas, Sep 2026). After the SMBR integration, Rp0.9 T was refinanced at a 1 pp lower rate (SIG corporate presentation, Mar 2024, p19). Payout 26.4% of FY2023 profit (Rp572 bn), 90.1% of FY2024, 100% of FY2025 (Rp190.8 bn, AGM 8 May 2026). Danantara: dividends no longer fixed, set by each holding's RKAP (Bisnis, Feb 2026), and under Law 1/2025 they stay in Danantara rather than the state budget (RCTI+/Okezone, 30 Sep 2026).</a:t>
            </a:r>
          </a:p>
          <a:p>
            <a:r>
              <a:t>Considered and not recommended: group cash pooling (SIG has a BNI notional pool since 2019, useful but cash and debt fall together, so little liquidity effect). Scrip dividend (no recent IDX precedent, legal check needed). Asset recycling and receivable securitization (no SIG precedent, longer than 12 months, securitization is debt in economic terms). Shareholder loan from Danantara Asset Management (used only for a distressed SOE, Garuda 2025). Stretching suppliers through reverse factoring (Carillion 2018, called a hidden debt loophole by Fitch).</a:t>
            </a:r>
          </a:p>
        </p:txBody>
      </p:sp>
    </p:spTree>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5D47-5DAC-F660-D6C9-E7731E576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80D06-1AA7-0317-CE05-6BD8253A170A}"/>
              </a:ext>
            </a:extLst>
          </p:cNvPr>
          <p:cNvSpPr>
            <a:spLocks noGrp="1"/>
          </p:cNvSpPr>
          <p:nvPr>
            <p:ph type="title"/>
          </p:nvPr>
        </p:nvSpPr>
        <p:spPr/>
        <p:txBody>
          <a:bodyPr/>
          <a:lstStyle/>
          <a:p>
            <a:r>
              <a:rPr lang="en-US" dirty="0"/>
              <a:t>Liquidity</a:t>
            </a:r>
            <a:endParaRPr lang="en-ID" dirty="0"/>
          </a:p>
        </p:txBody>
      </p:sp>
      <p:sp>
        <p:nvSpPr>
          <p:cNvPr id="3" name="Content Placeholder 2">
            <a:extLst>
              <a:ext uri="{FF2B5EF4-FFF2-40B4-BE49-F238E27FC236}">
                <a16:creationId xmlns:a16="http://schemas.microsoft.com/office/drawing/2014/main" id="{B4D87493-E816-86B0-E050-1D90074DB807}"/>
              </a:ext>
            </a:extLst>
          </p:cNvPr>
          <p:cNvSpPr>
            <a:spLocks noGrp="1"/>
          </p:cNvSpPr>
          <p:nvPr>
            <p:ph sz="quarter" idx="11"/>
          </p:nvPr>
        </p:nvSpPr>
        <p:spPr/>
        <p:txBody>
          <a:bodyPr/>
          <a:lstStyle/>
          <a:p>
            <a:r>
              <a:rPr lang="en-US" dirty="0"/>
              <a:t>Financial Analysis – Liquidity Analysis</a:t>
            </a:r>
            <a:endParaRPr lang="en-ID" dirty="0"/>
          </a:p>
        </p:txBody>
      </p:sp>
      <p:sp>
        <p:nvSpPr>
          <p:cNvPr id="4" name="Slide Number Placeholder 3">
            <a:extLst>
              <a:ext uri="{FF2B5EF4-FFF2-40B4-BE49-F238E27FC236}">
                <a16:creationId xmlns:a16="http://schemas.microsoft.com/office/drawing/2014/main" id="{FF88B83F-94A2-A692-BC0A-E9AD12200B15}"/>
              </a:ext>
            </a:extLst>
          </p:cNvPr>
          <p:cNvSpPr>
            <a:spLocks noGrp="1"/>
          </p:cNvSpPr>
          <p:nvPr>
            <p:ph type="sldNum" sz="quarter" idx="4"/>
          </p:nvPr>
        </p:nvSpPr>
        <p:spPr/>
        <p:txBody>
          <a:bodyPr/>
          <a:lstStyle/>
          <a:p>
            <a:fld id="{5927C8ED-2499-455D-815A-8FC10D954B50}" type="slidenum">
              <a:rPr lang="en-ID" b="1" smtClean="0"/>
              <a:pPr/>
              <a:t>13</a:t>
            </a:fld>
            <a:endParaRPr lang="en-ID" b="1"/>
          </a:p>
        </p:txBody>
      </p:sp>
      <p:sp>
        <p:nvSpPr>
          <p:cNvPr id="5" name="Text Placeholder 4">
            <a:extLst>
              <a:ext uri="{FF2B5EF4-FFF2-40B4-BE49-F238E27FC236}">
                <a16:creationId xmlns:a16="http://schemas.microsoft.com/office/drawing/2014/main" id="{42D5219E-E655-76D7-0AE0-2E511B10B3E3}"/>
              </a:ext>
            </a:extLst>
          </p:cNvPr>
          <p:cNvSpPr>
            <a:spLocks noGrp="1"/>
          </p:cNvSpPr>
          <p:nvPr>
            <p:ph type="body" sz="quarter" idx="10"/>
          </p:nvPr>
        </p:nvSpPr>
        <p:spPr/>
        <p:txBody>
          <a:bodyPr/>
          <a:lstStyle/>
          <a:p>
            <a:pPr algn="l">
              <a:spcAft>
                <a:spcPts val="0"/>
              </a:spcAft>
              <a:buNone/>
            </a:pPr>
            <a:r>
              <a:rPr sz="800" b="0" i="0">
                <a:solidFill>
                  <a:srgbClr val="7F7F7F"/>
                </a:solidFill>
                <a:latin typeface="Univers Light"/>
              </a:rPr>
              <a:t>Source: SIG and INTP audited financial statements FY2021–2025, company disclosures</a:t>
            </a:r>
            <a:endParaRPr lang="en-ID"/>
          </a:p>
        </p:txBody>
      </p:sp>
      <p:sp>
        <p:nvSpPr>
          <p:cNvPr id="6" name="TextBox 5"/>
          <p:cNvSpPr txBox="1"/>
          <p:nvPr/>
        </p:nvSpPr>
        <p:spPr>
          <a:xfrm>
            <a:off x="515620" y="1447800"/>
            <a:ext cx="31750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Buffers held up, but operating cash now covers only a quarter of short-term obligations</a:t>
            </a:r>
          </a:p>
        </p:txBody>
      </p:sp>
      <p:cxnSp>
        <p:nvCxnSpPr>
          <p:cNvPr id="7" name="Connector 6"/>
          <p:cNvCxnSpPr/>
          <p:nvPr/>
        </p:nvCxnSpPr>
        <p:spPr>
          <a:xfrm>
            <a:off x="515620" y="1866900"/>
            <a:ext cx="3175000" cy="0"/>
          </a:xfrm>
          <a:prstGeom prst="line">
            <a:avLst/>
          </a:prstGeom>
          <a:ln w="19050">
            <a:solidFill>
              <a:srgbClr val="1E64B0"/>
            </a:solidFill>
          </a:ln>
        </p:spPr>
      </p:cxnSp>
      <p:sp>
        <p:nvSpPr>
          <p:cNvPr id="8" name="TextBox 7"/>
          <p:cNvSpPr txBox="1"/>
          <p:nvPr/>
        </p:nvSpPr>
        <p:spPr>
          <a:xfrm>
            <a:off x="515620" y="1902460"/>
            <a:ext cx="31750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Liquidity ratios, x</a:t>
            </a:r>
          </a:p>
        </p:txBody>
      </p:sp>
      <p:sp>
        <p:nvSpPr>
          <p:cNvPr id="9" name="TextBox 8"/>
          <p:cNvSpPr txBox="1"/>
          <p:nvPr/>
        </p:nvSpPr>
        <p:spPr>
          <a:xfrm>
            <a:off x="1455420" y="2120900"/>
            <a:ext cx="5588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FY21</a:t>
            </a:r>
          </a:p>
        </p:txBody>
      </p:sp>
      <p:sp>
        <p:nvSpPr>
          <p:cNvPr id="10" name="TextBox 9"/>
          <p:cNvSpPr txBox="1"/>
          <p:nvPr/>
        </p:nvSpPr>
        <p:spPr>
          <a:xfrm>
            <a:off x="2014220" y="2120900"/>
            <a:ext cx="5588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FY25</a:t>
            </a:r>
          </a:p>
        </p:txBody>
      </p:sp>
      <p:sp>
        <p:nvSpPr>
          <p:cNvPr id="11" name="TextBox 10"/>
          <p:cNvSpPr txBox="1"/>
          <p:nvPr/>
        </p:nvSpPr>
        <p:spPr>
          <a:xfrm>
            <a:off x="2573020" y="2120900"/>
            <a:ext cx="5080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CAGR</a:t>
            </a:r>
          </a:p>
        </p:txBody>
      </p:sp>
      <p:sp>
        <p:nvSpPr>
          <p:cNvPr id="12" name="TextBox 11"/>
          <p:cNvSpPr txBox="1"/>
          <p:nvPr/>
        </p:nvSpPr>
        <p:spPr>
          <a:xfrm>
            <a:off x="3081020" y="2120900"/>
            <a:ext cx="6096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INTP FY25</a:t>
            </a:r>
          </a:p>
        </p:txBody>
      </p:sp>
      <p:cxnSp>
        <p:nvCxnSpPr>
          <p:cNvPr id="13" name="Connector 12"/>
          <p:cNvCxnSpPr/>
          <p:nvPr/>
        </p:nvCxnSpPr>
        <p:spPr>
          <a:xfrm>
            <a:off x="515620" y="2324100"/>
            <a:ext cx="3175000" cy="0"/>
          </a:xfrm>
          <a:prstGeom prst="line">
            <a:avLst/>
          </a:prstGeom>
          <a:ln w="9525">
            <a:solidFill>
              <a:srgbClr val="BFBFBF"/>
            </a:solidFill>
          </a:ln>
        </p:spPr>
      </p:cxnSp>
      <p:sp>
        <p:nvSpPr>
          <p:cNvPr id="14" name="TextBox 13"/>
          <p:cNvSpPr txBox="1"/>
          <p:nvPr/>
        </p:nvSpPr>
        <p:spPr>
          <a:xfrm>
            <a:off x="515620" y="23241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Cash ÷ debt due within a year</a:t>
            </a:r>
          </a:p>
        </p:txBody>
      </p:sp>
      <p:sp>
        <p:nvSpPr>
          <p:cNvPr id="15" name="TextBox 14"/>
          <p:cNvSpPr txBox="1"/>
          <p:nvPr/>
        </p:nvSpPr>
        <p:spPr>
          <a:xfrm>
            <a:off x="1455420" y="23241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0.74x</a:t>
            </a:r>
          </a:p>
        </p:txBody>
      </p:sp>
      <p:sp>
        <p:nvSpPr>
          <p:cNvPr id="16" name="TextBox 15"/>
          <p:cNvSpPr txBox="1"/>
          <p:nvPr/>
        </p:nvSpPr>
        <p:spPr>
          <a:xfrm>
            <a:off x="2014220" y="23241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1.09x</a:t>
            </a:r>
          </a:p>
        </p:txBody>
      </p:sp>
      <p:sp>
        <p:nvSpPr>
          <p:cNvPr id="17" name="TextBox 16"/>
          <p:cNvSpPr txBox="1"/>
          <p:nvPr/>
        </p:nvSpPr>
        <p:spPr>
          <a:xfrm>
            <a:off x="2573020" y="23241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+10.2%</a:t>
            </a:r>
          </a:p>
        </p:txBody>
      </p:sp>
      <p:sp>
        <p:nvSpPr>
          <p:cNvPr id="18" name="TextBox 17"/>
          <p:cNvSpPr txBox="1"/>
          <p:nvPr/>
        </p:nvSpPr>
        <p:spPr>
          <a:xfrm>
            <a:off x="3081020" y="23241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4.13x</a:t>
            </a:r>
          </a:p>
        </p:txBody>
      </p:sp>
      <p:cxnSp>
        <p:nvCxnSpPr>
          <p:cNvPr id="19" name="Connector 18"/>
          <p:cNvCxnSpPr/>
          <p:nvPr/>
        </p:nvCxnSpPr>
        <p:spPr>
          <a:xfrm>
            <a:off x="515620" y="2730500"/>
            <a:ext cx="3175000" cy="0"/>
          </a:xfrm>
          <a:prstGeom prst="line">
            <a:avLst/>
          </a:prstGeom>
          <a:ln w="6350">
            <a:solidFill>
              <a:srgbClr val="E5E5E5"/>
            </a:solidFill>
          </a:ln>
        </p:spPr>
      </p:cxnSp>
      <p:sp>
        <p:nvSpPr>
          <p:cNvPr id="20" name="TextBox 19"/>
          <p:cNvSpPr txBox="1"/>
          <p:nvPr/>
        </p:nvSpPr>
        <p:spPr>
          <a:xfrm>
            <a:off x="515620" y="27305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Quick ratio</a:t>
            </a:r>
          </a:p>
        </p:txBody>
      </p:sp>
      <p:sp>
        <p:nvSpPr>
          <p:cNvPr id="21" name="TextBox 20"/>
          <p:cNvSpPr txBox="1"/>
          <p:nvPr/>
        </p:nvSpPr>
        <p:spPr>
          <a:xfrm>
            <a:off x="1455420" y="27305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0.77x</a:t>
            </a:r>
          </a:p>
        </p:txBody>
      </p:sp>
      <p:sp>
        <p:nvSpPr>
          <p:cNvPr id="22" name="TextBox 21"/>
          <p:cNvSpPr txBox="1"/>
          <p:nvPr/>
        </p:nvSpPr>
        <p:spPr>
          <a:xfrm>
            <a:off x="2014220" y="27305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0.79x</a:t>
            </a:r>
          </a:p>
        </p:txBody>
      </p:sp>
      <p:sp>
        <p:nvSpPr>
          <p:cNvPr id="23" name="TextBox 22"/>
          <p:cNvSpPr txBox="1"/>
          <p:nvPr/>
        </p:nvSpPr>
        <p:spPr>
          <a:xfrm>
            <a:off x="2573020" y="27305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+0.5%</a:t>
            </a:r>
          </a:p>
        </p:txBody>
      </p:sp>
      <p:sp>
        <p:nvSpPr>
          <p:cNvPr id="24" name="TextBox 23"/>
          <p:cNvSpPr txBox="1"/>
          <p:nvPr/>
        </p:nvSpPr>
        <p:spPr>
          <a:xfrm>
            <a:off x="3081020" y="27305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1.48x</a:t>
            </a:r>
          </a:p>
        </p:txBody>
      </p:sp>
      <p:cxnSp>
        <p:nvCxnSpPr>
          <p:cNvPr id="25" name="Connector 24"/>
          <p:cNvCxnSpPr/>
          <p:nvPr/>
        </p:nvCxnSpPr>
        <p:spPr>
          <a:xfrm>
            <a:off x="515620" y="3136900"/>
            <a:ext cx="3175000" cy="0"/>
          </a:xfrm>
          <a:prstGeom prst="line">
            <a:avLst/>
          </a:prstGeom>
          <a:ln w="6350">
            <a:solidFill>
              <a:srgbClr val="E5E5E5"/>
            </a:solidFill>
          </a:ln>
        </p:spPr>
      </p:cxnSp>
      <p:sp>
        <p:nvSpPr>
          <p:cNvPr id="26" name="TextBox 25"/>
          <p:cNvSpPr txBox="1"/>
          <p:nvPr/>
        </p:nvSpPr>
        <p:spPr>
          <a:xfrm>
            <a:off x="515620" y="31369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Operating cash flow ÷ current liabilities</a:t>
            </a:r>
          </a:p>
        </p:txBody>
      </p:sp>
      <p:sp>
        <p:nvSpPr>
          <p:cNvPr id="27" name="TextBox 26"/>
          <p:cNvSpPr txBox="1"/>
          <p:nvPr/>
        </p:nvSpPr>
        <p:spPr>
          <a:xfrm>
            <a:off x="1455420" y="31369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0.47x</a:t>
            </a:r>
          </a:p>
        </p:txBody>
      </p:sp>
      <p:sp>
        <p:nvSpPr>
          <p:cNvPr id="28" name="TextBox 27"/>
          <p:cNvSpPr txBox="1"/>
          <p:nvPr/>
        </p:nvSpPr>
        <p:spPr>
          <a:xfrm>
            <a:off x="2014220" y="31369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0.24x</a:t>
            </a:r>
            <a:r>
              <a:rPr sz="700" b="0" i="0">
                <a:solidFill>
                  <a:srgbClr val="161616"/>
                </a:solidFill>
                <a:latin typeface="Arial"/>
              </a:rPr>
              <a:t> ▼</a:t>
            </a:r>
          </a:p>
        </p:txBody>
      </p:sp>
      <p:sp>
        <p:nvSpPr>
          <p:cNvPr id="29" name="TextBox 28"/>
          <p:cNvSpPr txBox="1"/>
          <p:nvPr/>
        </p:nvSpPr>
        <p:spPr>
          <a:xfrm>
            <a:off x="2573020" y="31369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–15.9%</a:t>
            </a:r>
          </a:p>
        </p:txBody>
      </p:sp>
      <p:sp>
        <p:nvSpPr>
          <p:cNvPr id="30" name="TextBox 29"/>
          <p:cNvSpPr txBox="1"/>
          <p:nvPr/>
        </p:nvSpPr>
        <p:spPr>
          <a:xfrm>
            <a:off x="3081020" y="31369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0.60x</a:t>
            </a:r>
          </a:p>
        </p:txBody>
      </p:sp>
      <p:cxnSp>
        <p:nvCxnSpPr>
          <p:cNvPr id="31" name="Connector 30"/>
          <p:cNvCxnSpPr/>
          <p:nvPr/>
        </p:nvCxnSpPr>
        <p:spPr>
          <a:xfrm>
            <a:off x="515620" y="3543300"/>
            <a:ext cx="3175000" cy="0"/>
          </a:xfrm>
          <a:prstGeom prst="line">
            <a:avLst/>
          </a:prstGeom>
          <a:ln w="6350">
            <a:solidFill>
              <a:srgbClr val="E5E5E5"/>
            </a:solidFill>
          </a:ln>
        </p:spPr>
      </p:cxnSp>
      <p:sp>
        <p:nvSpPr>
          <p:cNvPr id="32" name="Rectangle 31"/>
          <p:cNvSpPr/>
          <p:nvPr/>
        </p:nvSpPr>
        <p:spPr>
          <a:xfrm>
            <a:off x="515620" y="3670300"/>
            <a:ext cx="3175000" cy="2603500"/>
          </a:xfrm>
          <a:prstGeom prst="rect">
            <a:avLst/>
          </a:prstGeom>
          <a:solidFill>
            <a:srgbClr val="F2F2F2"/>
          </a:solidFill>
          <a:ln w="9525">
            <a:solidFill>
              <a:srgbClr val="BFBFBF"/>
            </a:solidFill>
            <a:prstDash val="dash"/>
          </a:ln>
        </p:spPr>
        <p:txBody>
          <a:bodyPr rtlCol="0" anchor="ctr" lIns="0" rIns="0" tIns="0" bIns="0"/>
          <a:lstStyle/>
          <a:p>
            <a:pPr algn="ctr"/>
          </a:p>
        </p:txBody>
      </p:sp>
      <p:sp>
        <p:nvSpPr>
          <p:cNvPr id="33" name="TextBox 32"/>
          <p:cNvSpPr txBox="1"/>
          <p:nvPr/>
        </p:nvSpPr>
        <p:spPr>
          <a:xfrm>
            <a:off x="642620" y="3771900"/>
            <a:ext cx="2921000" cy="2425700"/>
          </a:xfrm>
          <a:prstGeom prst="rect">
            <a:avLst/>
          </a:prstGeom>
          <a:noFill/>
        </p:spPr>
        <p:txBody>
          <a:bodyPr wrap="square" lIns="0" rIns="0" tIns="0" bIns="0" anchor="t"/>
          <a:lstStyle/>
          <a:p>
            <a:pPr algn="l">
              <a:spcAft>
                <a:spcPts val="800"/>
              </a:spcAft>
              <a:buNone/>
            </a:pPr>
            <a:r>
              <a:rPr sz="1200" b="1" i="0">
                <a:solidFill>
                  <a:srgbClr val="0F1F33"/>
                </a:solidFill>
                <a:latin typeface="Univers Light"/>
              </a:rPr>
              <a:t>Key takeaways</a:t>
            </a:r>
          </a:p>
          <a:p>
            <a:pPr algn="l">
              <a:spcAft>
                <a:spcPts val="700"/>
              </a:spcAft>
              <a:buNone/>
            </a:pPr>
            <a:r>
              <a:rPr sz="1050" b="1" i="0">
                <a:solidFill>
                  <a:srgbClr val="161616"/>
                </a:solidFill>
                <a:latin typeface="Univers Light"/>
              </a:rPr>
              <a:t>1. Against what SIG holds: adequate. </a:t>
            </a:r>
            <a:r>
              <a:rPr sz="1050" b="0" i="0">
                <a:solidFill>
                  <a:srgbClr val="161616"/>
                </a:solidFill>
                <a:latin typeface="Univers Light"/>
              </a:rPr>
              <a:t>Cash on hand still exceeds near-term debt, and the quick ratio is back at its FY21 level.</a:t>
            </a:r>
          </a:p>
          <a:p>
            <a:pPr algn="l">
              <a:spcAft>
                <a:spcPts val="700"/>
              </a:spcAft>
              <a:buNone/>
            </a:pPr>
            <a:r>
              <a:rPr sz="1050" b="1" i="0">
                <a:solidFill>
                  <a:srgbClr val="161616"/>
                </a:solidFill>
                <a:latin typeface="Univers Light"/>
              </a:rPr>
              <a:t>2. Against what SIG generates: eroding. </a:t>
            </a:r>
            <a:r>
              <a:rPr sz="1050" b="0" i="0">
                <a:solidFill>
                  <a:srgbClr val="161616"/>
                </a:solidFill>
                <a:latin typeface="Univers Light"/>
              </a:rPr>
              <a:t>Operating cash halved with EBITDA, so each year adds less to the buffer.</a:t>
            </a:r>
          </a:p>
          <a:p>
            <a:pPr algn="l">
              <a:spcAft>
                <a:spcPts val="0"/>
              </a:spcAft>
              <a:buNone/>
            </a:pPr>
            <a:r>
              <a:rPr sz="1050" b="1" i="0">
                <a:solidFill>
                  <a:srgbClr val="161616"/>
                </a:solidFill>
                <a:latin typeface="Univers Light"/>
              </a:rPr>
              <a:t>3. Pressure point: supplier credit. </a:t>
            </a:r>
            <a:r>
              <a:rPr sz="1050" b="0" i="0">
                <a:solidFill>
                  <a:srgbClr val="161616"/>
                </a:solidFill>
                <a:latin typeface="Univers Light"/>
              </a:rPr>
              <a:t>Suppliers fund almost half of current assets, three times INTP's share, so tighter terms would drain cash quickly.</a:t>
            </a:r>
          </a:p>
        </p:txBody>
      </p:sp>
      <p:sp>
        <p:nvSpPr>
          <p:cNvPr id="34" name="TextBox 33"/>
          <p:cNvSpPr txBox="1"/>
          <p:nvPr/>
        </p:nvSpPr>
        <p:spPr>
          <a:xfrm>
            <a:off x="3873500" y="1447800"/>
            <a:ext cx="780415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SIG's current liabilities equal 91% of its current assets (INTP 54%), driven mostly by supplier credit</a:t>
            </a:r>
          </a:p>
        </p:txBody>
      </p:sp>
      <p:cxnSp>
        <p:nvCxnSpPr>
          <p:cNvPr id="35" name="Connector 34"/>
          <p:cNvCxnSpPr/>
          <p:nvPr/>
        </p:nvCxnSpPr>
        <p:spPr>
          <a:xfrm>
            <a:off x="3873500" y="1689100"/>
            <a:ext cx="7804150" cy="0"/>
          </a:xfrm>
          <a:prstGeom prst="line">
            <a:avLst/>
          </a:prstGeom>
          <a:ln w="19050">
            <a:solidFill>
              <a:srgbClr val="1E64B0"/>
            </a:solidFill>
          </a:ln>
        </p:spPr>
      </p:cxnSp>
      <p:sp>
        <p:nvSpPr>
          <p:cNvPr id="36" name="TextBox 35"/>
          <p:cNvSpPr txBox="1"/>
          <p:nvPr/>
        </p:nvSpPr>
        <p:spPr>
          <a:xfrm>
            <a:off x="3873500" y="1724660"/>
            <a:ext cx="780415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Current liabilities as % of current assets</a:t>
            </a:r>
          </a:p>
        </p:txBody>
      </p:sp>
      <p:sp>
        <p:nvSpPr>
          <p:cNvPr id="37" name="Rectangle 36"/>
          <p:cNvSpPr/>
          <p:nvPr/>
        </p:nvSpPr>
        <p:spPr>
          <a:xfrm>
            <a:off x="3873500" y="1962150"/>
            <a:ext cx="76200" cy="76200"/>
          </a:xfrm>
          <a:prstGeom prst="rect">
            <a:avLst/>
          </a:prstGeom>
          <a:solidFill>
            <a:srgbClr val="1E64B0"/>
          </a:solidFill>
          <a:ln>
            <a:noFill/>
          </a:ln>
        </p:spPr>
        <p:txBody>
          <a:bodyPr rtlCol="0" anchor="ctr" lIns="0" rIns="0" tIns="0" bIns="0"/>
          <a:lstStyle/>
          <a:p>
            <a:pPr algn="ctr"/>
          </a:p>
        </p:txBody>
      </p:sp>
      <p:sp>
        <p:nvSpPr>
          <p:cNvPr id="38" name="TextBox 37"/>
          <p:cNvSpPr txBox="1"/>
          <p:nvPr/>
        </p:nvSpPr>
        <p:spPr>
          <a:xfrm>
            <a:off x="4000500" y="1930400"/>
            <a:ext cx="80289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Trade payables</a:t>
            </a:r>
          </a:p>
        </p:txBody>
      </p:sp>
      <p:sp>
        <p:nvSpPr>
          <p:cNvPr id="39" name="Rectangle 38"/>
          <p:cNvSpPr/>
          <p:nvPr/>
        </p:nvSpPr>
        <p:spPr>
          <a:xfrm>
            <a:off x="4930394" y="1962150"/>
            <a:ext cx="76200" cy="76200"/>
          </a:xfrm>
          <a:prstGeom prst="rect">
            <a:avLst/>
          </a:prstGeom>
          <a:solidFill>
            <a:srgbClr val="0F1F33"/>
          </a:solidFill>
          <a:ln>
            <a:noFill/>
          </a:ln>
        </p:spPr>
        <p:txBody>
          <a:bodyPr rtlCol="0" anchor="ctr" lIns="0" rIns="0" tIns="0" bIns="0"/>
          <a:lstStyle/>
          <a:p>
            <a:pPr algn="ctr"/>
          </a:p>
        </p:txBody>
      </p:sp>
      <p:sp>
        <p:nvSpPr>
          <p:cNvPr id="40" name="TextBox 39"/>
          <p:cNvSpPr txBox="1"/>
          <p:nvPr/>
        </p:nvSpPr>
        <p:spPr>
          <a:xfrm>
            <a:off x="5057394" y="1930400"/>
            <a:ext cx="1769871"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Short-term interest-bearing debt</a:t>
            </a:r>
          </a:p>
        </p:txBody>
      </p:sp>
      <p:sp>
        <p:nvSpPr>
          <p:cNvPr id="41" name="Rectangle 40"/>
          <p:cNvSpPr/>
          <p:nvPr/>
        </p:nvSpPr>
        <p:spPr>
          <a:xfrm>
            <a:off x="6954266" y="1962150"/>
            <a:ext cx="76200" cy="76200"/>
          </a:xfrm>
          <a:prstGeom prst="rect">
            <a:avLst/>
          </a:prstGeom>
          <a:solidFill>
            <a:srgbClr val="69C6F0"/>
          </a:solidFill>
          <a:ln>
            <a:noFill/>
          </a:ln>
        </p:spPr>
        <p:txBody>
          <a:bodyPr rtlCol="0" anchor="ctr" lIns="0" rIns="0" tIns="0" bIns="0"/>
          <a:lstStyle/>
          <a:p>
            <a:pPr algn="ctr"/>
          </a:p>
        </p:txBody>
      </p:sp>
      <p:sp>
        <p:nvSpPr>
          <p:cNvPr id="42" name="TextBox 41"/>
          <p:cNvSpPr txBox="1"/>
          <p:nvPr/>
        </p:nvSpPr>
        <p:spPr>
          <a:xfrm>
            <a:off x="7081266" y="1930400"/>
            <a:ext cx="1662429"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Customer advances and deposits</a:t>
            </a:r>
          </a:p>
        </p:txBody>
      </p:sp>
      <p:sp>
        <p:nvSpPr>
          <p:cNvPr id="43" name="Rectangle 42"/>
          <p:cNvSpPr/>
          <p:nvPr/>
        </p:nvSpPr>
        <p:spPr>
          <a:xfrm>
            <a:off x="8870696" y="1962150"/>
            <a:ext cx="76200" cy="76200"/>
          </a:xfrm>
          <a:prstGeom prst="rect">
            <a:avLst/>
          </a:prstGeom>
          <a:solidFill>
            <a:srgbClr val="8C8C8C"/>
          </a:solidFill>
          <a:ln>
            <a:noFill/>
          </a:ln>
        </p:spPr>
        <p:txBody>
          <a:bodyPr rtlCol="0" anchor="ctr" lIns="0" rIns="0" tIns="0" bIns="0"/>
          <a:lstStyle/>
          <a:p>
            <a:pPr algn="ctr"/>
          </a:p>
        </p:txBody>
      </p:sp>
      <p:sp>
        <p:nvSpPr>
          <p:cNvPr id="44" name="TextBox 43"/>
          <p:cNvSpPr txBox="1"/>
          <p:nvPr/>
        </p:nvSpPr>
        <p:spPr>
          <a:xfrm>
            <a:off x="8997696" y="1930400"/>
            <a:ext cx="319405"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Other</a:t>
            </a:r>
          </a:p>
        </p:txBody>
      </p:sp>
      <p:graphicFrame>
        <p:nvGraphicFramePr>
          <p:cNvPr id="45" name="Chart liability mix"/>
          <p:cNvGraphicFramePr>
            <a:graphicFrameLocks noGrp="1"/>
          </p:cNvGraphicFramePr>
          <p:nvPr/>
        </p:nvGraphicFramePr>
        <p:xfrm>
          <a:off x="3873500" y="2082800"/>
          <a:ext cx="6667500" cy="1600200"/>
        </p:xfrm>
        <a:graphic>
          <a:graphicData uri="http://schemas.openxmlformats.org/drawingml/2006/chart">
            <c:chart xmlns:c="http://schemas.openxmlformats.org/drawingml/2006/chart" r:id="rId2"/>
          </a:graphicData>
        </a:graphic>
      </p:graphicFrame>
      <p:sp>
        <p:nvSpPr>
          <p:cNvPr id="46" name="TextBox 45"/>
          <p:cNvSpPr txBox="1"/>
          <p:nvPr/>
        </p:nvSpPr>
        <p:spPr>
          <a:xfrm>
            <a:off x="10655300" y="2082800"/>
            <a:ext cx="1098550" cy="330200"/>
          </a:xfrm>
          <a:prstGeom prst="rect">
            <a:avLst/>
          </a:prstGeom>
          <a:noFill/>
        </p:spPr>
        <p:txBody>
          <a:bodyPr wrap="square" lIns="0" rIns="0" tIns="0" bIns="0" anchor="ctr"/>
          <a:lstStyle/>
          <a:p>
            <a:pPr algn="ctr">
              <a:spcAft>
                <a:spcPts val="0"/>
              </a:spcAft>
              <a:buNone/>
            </a:pPr>
            <a:r>
              <a:rPr sz="900" b="1" i="0">
                <a:solidFill>
                  <a:srgbClr val="1E64B0"/>
                </a:solidFill>
                <a:latin typeface="Univers Light"/>
              </a:rPr>
              <a:t>Cash as % of current assets</a:t>
            </a:r>
          </a:p>
        </p:txBody>
      </p:sp>
      <p:sp>
        <p:nvSpPr>
          <p:cNvPr id="47" name="TextBox 46"/>
          <p:cNvSpPr txBox="1"/>
          <p:nvPr/>
        </p:nvSpPr>
        <p:spPr>
          <a:xfrm>
            <a:off x="10553700" y="2413000"/>
            <a:ext cx="1301750" cy="12700"/>
          </a:xfrm>
          <a:prstGeom prst="rect">
            <a:avLst/>
          </a:prstGeom>
          <a:noFill/>
        </p:spPr>
        <p:txBody>
          <a:bodyPr wrap="none" lIns="0" rIns="0" tIns="0" bIns="0" anchor="b"/>
          <a:lstStyle/>
          <a:p>
            <a:pPr algn="ctr">
              <a:spcAft>
                <a:spcPts val="0"/>
              </a:spcAft>
              <a:buNone/>
            </a:pPr>
            <a:r>
              <a:rPr sz="1000" b="1" i="0">
                <a:solidFill>
                  <a:srgbClr val="1E64B0"/>
                </a:solidFill>
                <a:latin typeface="Univers Light"/>
              </a:rPr>
              <a:t/>
            </a:r>
          </a:p>
        </p:txBody>
      </p:sp>
      <p:sp>
        <p:nvSpPr>
          <p:cNvPr id="48" name="Rounded Rectangle 47"/>
          <p:cNvSpPr/>
          <p:nvPr/>
        </p:nvSpPr>
        <p:spPr>
          <a:xfrm>
            <a:off x="10731500" y="2463800"/>
            <a:ext cx="946150" cy="342900"/>
          </a:xfrm>
          <a:prstGeom prst="roundRect">
            <a:avLst>
              <a:gd name="adj" fmla="val 18000"/>
            </a:avLst>
          </a:prstGeom>
          <a:solidFill>
            <a:srgbClr val="A9B9CC"/>
          </a:solidFill>
          <a:ln>
            <a:noFill/>
          </a:ln>
        </p:spPr>
        <p:txBody>
          <a:bodyPr rtlCol="0" anchor="ctr" lIns="0" rIns="0" tIns="0" bIns="0" wrap="square"/>
          <a:lstStyle/>
          <a:p>
            <a:pPr algn="ctr">
              <a:spcAft>
                <a:spcPts val="0"/>
              </a:spcAft>
              <a:buNone/>
            </a:pPr>
            <a:r>
              <a:rPr sz="850" b="0" i="0">
                <a:solidFill>
                  <a:srgbClr val="0F1F33"/>
                </a:solidFill>
                <a:latin typeface="Univers Light"/>
              </a:rPr>
              <a:t>SIG FY21</a:t>
            </a:r>
          </a:p>
          <a:p>
            <a:pPr algn="ctr">
              <a:spcAft>
                <a:spcPts val="0"/>
              </a:spcAft>
              <a:buNone/>
            </a:pPr>
            <a:r>
              <a:rPr sz="1100" b="1" i="0">
                <a:solidFill>
                  <a:srgbClr val="0F1F33"/>
                </a:solidFill>
                <a:latin typeface="Univers Light"/>
              </a:rPr>
              <a:t>18%</a:t>
            </a:r>
          </a:p>
        </p:txBody>
      </p:sp>
      <p:sp>
        <p:nvSpPr>
          <p:cNvPr id="49" name="Rounded Rectangle 48"/>
          <p:cNvSpPr/>
          <p:nvPr/>
        </p:nvSpPr>
        <p:spPr>
          <a:xfrm>
            <a:off x="10731500" y="2857500"/>
            <a:ext cx="946150" cy="342900"/>
          </a:xfrm>
          <a:prstGeom prst="roundRect">
            <a:avLst>
              <a:gd name="adj" fmla="val 18000"/>
            </a:avLst>
          </a:prstGeom>
          <a:solidFill>
            <a:srgbClr val="083358"/>
          </a:solidFill>
          <a:ln>
            <a:noFill/>
          </a:ln>
        </p:spPr>
        <p:txBody>
          <a:bodyPr rtlCol="0" anchor="ctr" lIns="0" rIns="0" tIns="0" bIns="0" wrap="square"/>
          <a:lstStyle/>
          <a:p>
            <a:pPr algn="ctr">
              <a:spcAft>
                <a:spcPts val="0"/>
              </a:spcAft>
              <a:buNone/>
            </a:pPr>
            <a:r>
              <a:rPr sz="850" b="0" i="0">
                <a:solidFill>
                  <a:srgbClr val="FFFFFF"/>
                </a:solidFill>
                <a:latin typeface="Univers Light"/>
              </a:rPr>
              <a:t>SIG FY25</a:t>
            </a:r>
          </a:p>
          <a:p>
            <a:pPr algn="ctr">
              <a:spcAft>
                <a:spcPts val="0"/>
              </a:spcAft>
              <a:buNone/>
            </a:pPr>
            <a:r>
              <a:rPr sz="1100" b="1" i="0">
                <a:solidFill>
                  <a:srgbClr val="FFFFFF"/>
                </a:solidFill>
                <a:latin typeface="Univers Light"/>
              </a:rPr>
              <a:t>27%</a:t>
            </a:r>
          </a:p>
        </p:txBody>
      </p:sp>
      <p:sp>
        <p:nvSpPr>
          <p:cNvPr id="50" name="Rounded Rectangle 49"/>
          <p:cNvSpPr/>
          <p:nvPr/>
        </p:nvSpPr>
        <p:spPr>
          <a:xfrm>
            <a:off x="10731500" y="3251200"/>
            <a:ext cx="946150" cy="342900"/>
          </a:xfrm>
          <a:prstGeom prst="roundRect">
            <a:avLst>
              <a:gd name="adj" fmla="val 18000"/>
            </a:avLst>
          </a:prstGeom>
          <a:solidFill>
            <a:srgbClr val="358FD1"/>
          </a:solidFill>
          <a:ln>
            <a:noFill/>
          </a:ln>
        </p:spPr>
        <p:txBody>
          <a:bodyPr rtlCol="0" anchor="ctr" lIns="0" rIns="0" tIns="0" bIns="0" wrap="square"/>
          <a:lstStyle/>
          <a:p>
            <a:pPr algn="ctr">
              <a:spcAft>
                <a:spcPts val="0"/>
              </a:spcAft>
              <a:buNone/>
            </a:pPr>
            <a:r>
              <a:rPr sz="850" b="0" i="0">
                <a:solidFill>
                  <a:srgbClr val="FFFFFF"/>
                </a:solidFill>
                <a:latin typeface="Univers Light"/>
              </a:rPr>
              <a:t>INTP FY25</a:t>
            </a:r>
          </a:p>
          <a:p>
            <a:pPr algn="ctr">
              <a:spcAft>
                <a:spcPts val="0"/>
              </a:spcAft>
              <a:buNone/>
            </a:pPr>
            <a:r>
              <a:rPr sz="1100" b="1" i="0">
                <a:solidFill>
                  <a:srgbClr val="FFFFFF"/>
                </a:solidFill>
                <a:latin typeface="Univers Light"/>
              </a:rPr>
              <a:t>52%</a:t>
            </a:r>
          </a:p>
        </p:txBody>
      </p:sp>
      <p:sp>
        <p:nvSpPr>
          <p:cNvPr id="51" name="TextBox 50"/>
          <p:cNvSpPr txBox="1"/>
          <p:nvPr/>
        </p:nvSpPr>
        <p:spPr>
          <a:xfrm>
            <a:off x="3873500" y="3810000"/>
            <a:ext cx="780415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Three moves SIG can start now to rebuild the buffer</a:t>
            </a:r>
          </a:p>
        </p:txBody>
      </p:sp>
      <p:cxnSp>
        <p:nvCxnSpPr>
          <p:cNvPr id="52" name="Connector 51"/>
          <p:cNvCxnSpPr/>
          <p:nvPr/>
        </p:nvCxnSpPr>
        <p:spPr>
          <a:xfrm>
            <a:off x="3873500" y="4051300"/>
            <a:ext cx="7804150" cy="0"/>
          </a:xfrm>
          <a:prstGeom prst="line">
            <a:avLst/>
          </a:prstGeom>
          <a:ln w="19050">
            <a:solidFill>
              <a:srgbClr val="1E64B0"/>
            </a:solidFill>
          </a:ln>
        </p:spPr>
      </p:cxnSp>
      <p:sp>
        <p:nvSpPr>
          <p:cNvPr id="53" name="Rectangle 52"/>
          <p:cNvSpPr/>
          <p:nvPr/>
        </p:nvSpPr>
        <p:spPr>
          <a:xfrm>
            <a:off x="3873500" y="4114800"/>
            <a:ext cx="4165600" cy="190500"/>
          </a:xfrm>
          <a:prstGeom prst="rect">
            <a:avLst/>
          </a:prstGeom>
          <a:solidFill>
            <a:srgbClr val="12274C"/>
          </a:solidFill>
          <a:ln>
            <a:noFill/>
          </a:ln>
        </p:spPr>
        <p:txBody>
          <a:bodyPr rtlCol="0" anchor="ctr" lIns="50800" rIns="0" tIns="0" bIns="0"/>
          <a:lstStyle/>
          <a:p>
            <a:pPr algn="l">
              <a:spcAft>
                <a:spcPts val="0"/>
              </a:spcAft>
              <a:buNone/>
            </a:pPr>
            <a:r>
              <a:rPr sz="950" b="1" i="0">
                <a:solidFill>
                  <a:srgbClr val="FFFFFF"/>
                </a:solidFill>
                <a:latin typeface="Univers Light"/>
              </a:rPr>
              <a:t>Recommendation</a:t>
            </a:r>
          </a:p>
        </p:txBody>
      </p:sp>
      <p:sp>
        <p:nvSpPr>
          <p:cNvPr id="54" name="Rectangle 53"/>
          <p:cNvSpPr/>
          <p:nvPr/>
        </p:nvSpPr>
        <p:spPr>
          <a:xfrm>
            <a:off x="8064500" y="4114800"/>
            <a:ext cx="3613150" cy="190500"/>
          </a:xfrm>
          <a:prstGeom prst="rect">
            <a:avLst/>
          </a:prstGeom>
          <a:solidFill>
            <a:srgbClr val="12274C"/>
          </a:solidFill>
          <a:ln>
            <a:noFill/>
          </a:ln>
        </p:spPr>
        <p:txBody>
          <a:bodyPr rtlCol="0" anchor="ctr" lIns="50800" rIns="0" tIns="0" bIns="0"/>
          <a:lstStyle/>
          <a:p>
            <a:pPr algn="l">
              <a:spcAft>
                <a:spcPts val="0"/>
              </a:spcAft>
              <a:buNone/>
            </a:pPr>
            <a:r>
              <a:rPr sz="950" b="1" i="0">
                <a:solidFill>
                  <a:srgbClr val="FFFFFF"/>
                </a:solidFill>
                <a:latin typeface="Univers Light"/>
              </a:rPr>
              <a:t>Supporting evidence</a:t>
            </a:r>
          </a:p>
        </p:txBody>
      </p:sp>
      <p:sp>
        <p:nvSpPr>
          <p:cNvPr id="55" name="TextBox 54"/>
          <p:cNvSpPr txBox="1"/>
          <p:nvPr/>
        </p:nvSpPr>
        <p:spPr>
          <a:xfrm>
            <a:off x="3924300" y="4318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Refinance near-term debt. </a:t>
            </a:r>
            <a:r>
              <a:rPr sz="950" b="0" i="0">
                <a:solidFill>
                  <a:srgbClr val="161616"/>
                </a:solidFill>
                <a:latin typeface="Univers Light"/>
              </a:rPr>
              <a:t>Roll upcoming maturities into 3–5 year bonds or term loans, backed by a committed standby line</a:t>
            </a:r>
          </a:p>
        </p:txBody>
      </p:sp>
      <p:sp>
        <p:nvSpPr>
          <p:cNvPr id="56" name="TextBox 55"/>
          <p:cNvSpPr txBox="1"/>
          <p:nvPr/>
        </p:nvSpPr>
        <p:spPr>
          <a:xfrm>
            <a:off x="8115300" y="4318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idAAA stable rating reaffirmed Aug 2026. Rp2.3 T of obligations repaid in Jan–Jul 2026. Rp0.9 T refinanced at a 1 pp lower rate after the SMBR integration</a:t>
            </a:r>
          </a:p>
        </p:txBody>
      </p:sp>
      <p:cxnSp>
        <p:nvCxnSpPr>
          <p:cNvPr id="57" name="Connector 56"/>
          <p:cNvCxnSpPr/>
          <p:nvPr/>
        </p:nvCxnSpPr>
        <p:spPr>
          <a:xfrm>
            <a:off x="3873500" y="4940300"/>
            <a:ext cx="7804150" cy="0"/>
          </a:xfrm>
          <a:prstGeom prst="line">
            <a:avLst/>
          </a:prstGeom>
          <a:ln w="6350">
            <a:solidFill>
              <a:srgbClr val="E5E5E5"/>
            </a:solidFill>
          </a:ln>
        </p:spPr>
      </p:cxnSp>
      <p:sp>
        <p:nvSpPr>
          <p:cNvPr id="58" name="TextBox 57"/>
          <p:cNvSpPr txBox="1"/>
          <p:nvPr/>
        </p:nvSpPr>
        <p:spPr>
          <a:xfrm>
            <a:off x="3924300" y="4953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Tie dividends to cash. </a:t>
            </a:r>
            <a:r>
              <a:rPr sz="950" b="0" i="0">
                <a:solidFill>
                  <a:srgbClr val="161616"/>
                </a:solidFill>
                <a:latin typeface="Univers Light"/>
              </a:rPr>
              <a:t>Propose to Danantara a payout policy linked to cash coverage, stepping down while cash is tight</a:t>
            </a:r>
          </a:p>
        </p:txBody>
      </p:sp>
      <p:sp>
        <p:nvSpPr>
          <p:cNvPr id="59" name="TextBox 58"/>
          <p:cNvSpPr txBox="1"/>
          <p:nvPr/>
        </p:nvSpPr>
        <p:spPr>
          <a:xfrm>
            <a:off x="8115300" y="4953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SIG paid out only 26% of FY2023 profit. Danantara sets dividends by each holding's needs (Feb 2026)</a:t>
            </a:r>
          </a:p>
        </p:txBody>
      </p:sp>
      <p:cxnSp>
        <p:nvCxnSpPr>
          <p:cNvPr id="60" name="Connector 59"/>
          <p:cNvCxnSpPr/>
          <p:nvPr/>
        </p:nvCxnSpPr>
        <p:spPr>
          <a:xfrm>
            <a:off x="3873500" y="5575300"/>
            <a:ext cx="7804150" cy="0"/>
          </a:xfrm>
          <a:prstGeom prst="line">
            <a:avLst/>
          </a:prstGeom>
          <a:ln w="6350">
            <a:solidFill>
              <a:srgbClr val="E5E5E5"/>
            </a:solidFill>
          </a:ln>
        </p:spPr>
      </p:cxnSp>
      <p:sp>
        <p:nvSpPr>
          <p:cNvPr id="61" name="TextBox 60"/>
          <p:cNvSpPr txBox="1"/>
          <p:nvPr/>
        </p:nvSpPr>
        <p:spPr>
          <a:xfrm>
            <a:off x="3924300" y="5588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Collect faster. </a:t>
            </a:r>
            <a:r>
              <a:rPr sz="950" b="0" i="0">
                <a:solidFill>
                  <a:srgbClr val="161616"/>
                </a:solidFill>
                <a:latin typeface="Univers Light"/>
              </a:rPr>
              <a:t>Move more distributors to deposits or cash before delivery and shorten receivable terms, without stretching suppliers</a:t>
            </a:r>
          </a:p>
        </p:txBody>
      </p:sp>
      <p:sp>
        <p:nvSpPr>
          <p:cNvPr id="62" name="TextBox 61"/>
          <p:cNvSpPr txBox="1"/>
          <p:nvPr/>
        </p:nvSpPr>
        <p:spPr>
          <a:xfrm>
            <a:off x="8115300" y="5588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Customer advances already rose from Rp0.1 T to Rp1.6 T since FY21</a:t>
            </a:r>
          </a:p>
        </p:txBody>
      </p:sp>
      <p:cxnSp>
        <p:nvCxnSpPr>
          <p:cNvPr id="63" name="Connector 62"/>
          <p:cNvCxnSpPr/>
          <p:nvPr/>
        </p:nvCxnSpPr>
        <p:spPr>
          <a:xfrm>
            <a:off x="3873500" y="6210300"/>
            <a:ext cx="7804150" cy="0"/>
          </a:xfrm>
          <a:prstGeom prst="line">
            <a:avLst/>
          </a:prstGeom>
          <a:ln w="9525">
            <a:solidFill>
              <a:srgbClr val="C2C2C2"/>
            </a:solidFill>
          </a:ln>
        </p:spPr>
      </p:cxnSp>
    </p:spTree>
    <p:extLst>
      <p:ext uri="{BB962C8B-B14F-4D97-AF65-F5344CB8AC3E}">
        <p14:creationId xmlns:p14="http://schemas.microsoft.com/office/powerpoint/2010/main" val="1678051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B102C0-4844-476C-8794-F5E16DD00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3224</TotalTime>
  <Words>14000</Words>
  <Application>Microsoft Office PowerPoint</Application>
  <PresentationFormat>Widescreen</PresentationFormat>
  <Paragraphs>3412</Paragraphs>
  <Slides>75</Slides>
  <Notes>20</Notes>
  <HiddenSlides>6</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0" baseType="lpstr">
      <vt:lpstr>Calibri</vt:lpstr>
      <vt:lpstr>Poppins</vt:lpstr>
      <vt:lpstr>Univers-Light-Normal</vt:lpstr>
      <vt:lpstr>Century Gothic</vt:lpstr>
      <vt:lpstr>Univers LT Std 55</vt:lpstr>
      <vt:lpstr>Ambit </vt:lpstr>
      <vt:lpstr>Arial</vt:lpstr>
      <vt:lpstr>Calibri Light</vt:lpstr>
      <vt:lpstr>Ambit Light</vt:lpstr>
      <vt:lpstr>Ambit Bold</vt:lpstr>
      <vt:lpstr>Wingdings</vt:lpstr>
      <vt:lpstr>Univers Light</vt:lpstr>
      <vt:lpstr>Univers</vt:lpstr>
      <vt:lpstr>Office Theme</vt:lpstr>
      <vt:lpstr>Worksheet</vt:lpstr>
      <vt:lpstr>PowerPoint Presentation</vt:lpstr>
      <vt:lpstr>PowerPoint Presentation</vt:lpstr>
      <vt:lpstr>SIG is Indonesia’s state-owned cement holding, commanding a vertically integrated operation built over decades of consolidation, spanning cement and clinker to ready-mix concrete and precast</vt:lpstr>
      <vt:lpstr>While SIG is leading the market, it loses market share to Indocement, and gets effed by industry wide oversupply especially due to its large idle asset</vt:lpstr>
      <vt:lpstr>Both SIG and Indocement’s revenue is stagnant, but Indocement maintains strong profitability while SIG’s profitability plummet due to growing COGS and other expense (….)</vt:lpstr>
      <vt:lpstr>Before diving deeper to profitability, mau cek aja sih leverage, efficiency, dan liquidity -&gt; bersih2 aja mau problem framing profitability buat di deep dive</vt:lpstr>
      <vt:lpstr>Problem Tree</vt:lpstr>
      <vt:lpstr>Problem Tree</vt:lpstr>
      <vt:lpstr>Jawaban2 analisis</vt:lpstr>
      <vt:lpstr>Conclude jd problem tree + solution</vt:lpstr>
      <vt:lpstr>Reccomendation</vt:lpstr>
      <vt:lpstr>Industry wise ada 2 challenge utama: demand, profitability, and competition yg dihadapi oleh SIG</vt:lpstr>
      <vt:lpstr>The industry’s stagnating demand, rise in production cost, and fierce competition…..</vt:lpstr>
      <vt:lpstr>Management’s response: balance sheet moves (cut debt, hold capex, high divident???)</vt:lpstr>
      <vt:lpstr>Management’s response: balance sheet moves (cut debt, hold capex, high divident???)</vt:lpstr>
      <vt:lpstr>Liquidity wise </vt:lpstr>
      <vt:lpstr>Market’s response</vt:lpstr>
      <vt:lpstr>What can SIG do?</vt:lpstr>
      <vt:lpstr>A quick scan on key KPI shows that we are at risk of profitability, repayability, and liquidity issue</vt:lpstr>
      <vt:lpstr>If we look at the income statement, we can see that the revenue is stagnating while ebitda decline</vt:lpstr>
      <vt:lpstr>Cash Flow Statement - Operating and investment</vt:lpstr>
      <vt:lpstr>Cash Flow Statement - Financing</vt:lpstr>
      <vt:lpstr>Asset</vt:lpstr>
      <vt:lpstr>Liabilities </vt:lpstr>
      <vt:lpstr>Equity</vt:lpstr>
      <vt:lpstr>PowerPoint Presentation</vt:lpstr>
      <vt:lpstr>PowerPoint Presentation</vt:lpstr>
      <vt:lpstr>PowerPoint Presentation</vt:lpstr>
      <vt:lpstr>Deep dive</vt:lpstr>
      <vt:lpstr>PowerPoint Presentation</vt:lpstr>
      <vt:lpstr>PowerPoint Presentation</vt:lpstr>
      <vt:lpstr>PowerPoint Presentation</vt:lpstr>
      <vt:lpstr>Tim konsultan penyusunan Kajian Ekspansi Bisnis Layanan Pegadaian di Luar Negeri terdiri dari konsultan strategi Skha dan konsultan legal SIAR</vt:lpstr>
      <vt:lpstr>Kajian Ekspansi Bisnis Layanan Pegadaian di Luar Negeri akan terdiri dari 2 pekerjaan utama dalam 4,5 bulan</vt:lpstr>
      <vt:lpstr>Pegadaian merupakan top 2 Global Pawnshop dan berambisi menjadi “World-Class Gold Ecosystem Player” melalui ekspansi footprint ke 4 negara pada 2030</vt:lpstr>
      <vt:lpstr>Aspirasi Pegadaian diterjemahkan menjadi inisiatif kajian potensi ekspansi bisnis di 15 negara dengan target meningkatkan outstanding loan (Rp151 M di 2030) secara konsolidasi</vt:lpstr>
      <vt:lpstr>Terdapat 4 (empat) lessons learnt dari strategi ekspansi Perusahaan gadai global</vt:lpstr>
      <vt:lpstr>Pegadaian dinilai mampu melakukan ekspansi global melalui leveraging internal capabilities berupa bisnis gadai emas, sinergi BRI, operational speed, dan kematangan teknologi</vt:lpstr>
      <vt:lpstr>Untuk memperlancar kajian, dibutuhkan konfirmasi pada 4 (empat) hal yang menjadi acuan parameter dalam penilaian market attractiveness sebagai berikut</vt:lpstr>
      <vt:lpstr>Kajian Ekspansi Bisnis Pegadaian akan menjawab 3 key questions</vt:lpstr>
      <vt:lpstr>Pertanyaan pertama akan menjawab negara prioritas ekspansi Pegadaian</vt:lpstr>
      <vt:lpstr>Market attractiveness assessment terhadap 15 negara akan melalui 3 tahap utama</vt:lpstr>
      <vt:lpstr>Delapan (8) negara akan diriset berdasarkan 5 (lima) aspek yakni makroekonomi, bisnis, politik, legal, dan sosiogeografis</vt:lpstr>
      <vt:lpstr>Negara dengan temuan legal berupa ketidakpastian regulasi, pembatasan foreign ownership, dan lisensi perbankan akan di-knock-out</vt:lpstr>
      <vt:lpstr>Keselarasan antara kondisi internal Pegadaian terhadap karakteristik negara menjadi penentu prioritisasi </vt:lpstr>
      <vt:lpstr>Pertanyaan kedua akan menjawab perjalanan ekspansi global Pegadaian hingga tahun 2030</vt:lpstr>
      <vt:lpstr>Prioritisasi akan dilakukan melalui expansion model matrix sehingga bisa dipetakan roadmap</vt:lpstr>
      <vt:lpstr>Pertanyaan ketiga akan menjawab expected return dari 2 negara prioritas melalui kajian kelayakan</vt:lpstr>
      <vt:lpstr>Expected return dari dua (2) negara paling strategis akan dijawab pada feasibility study</vt:lpstr>
      <vt:lpstr>Kajian Ekspansi Bisnis akan berlangsung dalam 4,5 bulan dengan 3 critical milestones pada akhir Oktober serta pertengahan November dan Desember</vt:lpstr>
      <vt:lpstr>PowerPoint Presentation</vt:lpstr>
      <vt:lpstr>PowerPoint Presentation</vt:lpstr>
      <vt:lpstr>Berikut asumsi yang digunakan untuk menghitung rasio </vt:lpstr>
      <vt:lpstr>Muthoot merupakan the biggest pawnshop in the world yang beroperasi di 4 (empat) negara secara full branch sejak tahun 2007</vt:lpstr>
      <vt:lpstr>FirstCash sebagai “the largest pawnshop in USA &amp; LATAM” memulai ekspansi secara organik ke negara tetangga, sebelum menerapkan strategi anorganik di negara lainnya</vt:lpstr>
      <vt:lpstr>Srisawad melakukan ekspansi ke negara-negara ASEAN melalui core product vehicle loan</vt:lpstr>
      <vt:lpstr>ValueMax, perusahaan gadai asal Singapura, melakukan ekspansi ke negara tetangga sejak tahun 2005 melalui core product, termasuk Malaysia dan Indonesia</vt:lpstr>
      <vt:lpstr>Market screening sementara menunjukkan Myanmar, UAE, dan Arab Saudi sebagai negara dengan market attractiveness terendah</vt:lpstr>
      <vt:lpstr>Data preliminary market screening di 15 negara</vt:lpstr>
      <vt:lpstr>Satu (1) negara tambahan yang menjadi objek riset adalah Uzbekistan, mempertimbangkan potensi pasar dan kesesuaian budaya</vt:lpstr>
      <vt:lpstr>Dalam menyusun Kajian Ekspansi Bisnis Layanan di Luar Negeri, terdapat kebutuhan data yang perlu di-support oleh Pegadaian</vt:lpstr>
      <vt:lpstr>Penyusunan Kajian Strategic Assessment dan Market Research Bisnis Pegadaian di Luar Negeri akan terdiri dari 6 (enam) modul analisis</vt:lpstr>
      <vt:lpstr>Penyusunan Kajian Kelayakan Pembukaan Layanan Pegadaian di Negara Tujuan Ekspansi Selanjutnya akan terdiri dari 6 (enam) modul analisis</vt:lpstr>
      <vt:lpstr>Penyusunan Kajian Strategic Assessment dan Market Research Bisnis Pegadaian di Luar Negeri akan dikerjakan selama 12 (dua belas) minggu dengan pembagian fokus pekerjaan sebagai berikut (1/2)</vt:lpstr>
      <vt:lpstr>Penyusunan Kajian Strategic Assessment dan Market Research Bisnis Pegadaian di Luar Negeri akan dikerjakan selama 12 (dua belas) minggu dengan pembagian fokus pekerjaan sebagai berikut (2/2)</vt:lpstr>
      <vt:lpstr>Penyusunan Kajian Kelayakan untuk 2 negara prioritas akan dikerjakan selama 6 (enam) minggu dengan pembagian fokus pekerjaan sebagai berikut</vt:lpstr>
      <vt:lpstr>Dalam pengerjaan kajian ini, kami mengusulkan project cadence untuk memastikan kualitas dan ketepatan waktu penyelesaian kajian sebagai berikut</vt:lpstr>
      <vt:lpstr>Pada aspek produk, gadai dan emas dinilai fit to global standard</vt:lpstr>
      <vt:lpstr>PowerPoint Presentation</vt:lpstr>
      <vt:lpstr>Tim penyusunan Kajian Ekspansi Bisnis Layanan Pegadaian di Luar Negeri terdiri sebagai berikut</vt:lpstr>
      <vt:lpstr>Untuk memperlancar kajian, dibutuhkan konfirmasi pada 4 (empat) hal yang menjadi acuan parameter dalam penilaian market attractiveness sebagai berikut</vt:lpstr>
      <vt:lpstr>Ease of regulation dan legal constraint menentukan feasibility ekspansi ke negara yang dituju </vt:lpstr>
      <vt:lpstr>Ease of regulation dan legal constraint menentukan feasibility ekspansi ke negara yang dituju </vt:lpstr>
      <vt:lpstr>Pegadaian merupakan top 2 Global Pawnshop dan berambisi menjadi “World-Class Gold Ecosystem Player” melalui ekspansi footprint ke 4 negara pada 2030</vt:lpstr>
      <vt:lpstr>Terdapat 5 (lima) lessons learnt dari strategi ekspansi Perusahaan gadai global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Ryan Kusnadi</cp:lastModifiedBy>
  <cp:revision>3</cp:revision>
  <cp:lastPrinted>2026-10-11T11:17:34Z</cp:lastPrinted>
  <dcterms:modified xsi:type="dcterms:W3CDTF">2026-10-16T10:10:34Z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