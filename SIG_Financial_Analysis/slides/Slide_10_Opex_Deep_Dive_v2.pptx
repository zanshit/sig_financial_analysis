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6"/>
  </p:notesMasterIdLst>
  <p:handoutMasterIdLst>
    <p:handoutMasterId r:id="rId7"/>
  </p:handoutMasterIdLst>
  <p:sldIdLst>
    <p:sldId id="309" r:id="rId5"/>
  </p:sldIdLst>
  <p:sldSz cx="12192000" cy="6858000"/>
  <p:notesSz cx="6858000" cy="9144000"/>
  <p:embeddedFontLst>
    <p:embeddedFont>
      <p:font typeface="Ambit Light" panose="00000400000000000000" charset="0"/>
      <p:regular r:id="rId8"/>
      <p:bold r:id="rId9"/>
      <p:italic r:id="rId10"/>
      <p:boldItalic r:id="rId11"/>
    </p:embeddedFont>
    <p:embeddedFont>
      <p:font typeface="Univers" panose="020B0503020202020204" pitchFamily="34" charset="0"/>
      <p:regular r:id="rId12"/>
      <p:bold r:id="rId13"/>
      <p:italic r:id="rId14"/>
    </p:embeddedFont>
    <p:embeddedFont>
      <p:font typeface="Univers Light" panose="020B0403020202020204" pitchFamily="34" charset="0"/>
      <p:regular r:id="rId15"/>
    </p:embeddedFont>
    <p:embeddedFont>
      <p:font typeface="Univers LT Std 55" panose="020B0604020202020204" charset="0"/>
      <p:regular r:id="rId16"/>
      <p:bold r:id="rId17"/>
      <p:italic r:id="rId18"/>
      <p:boldItalic r:id="rId19"/>
    </p:embeddedFont>
  </p:embeddedFontLst>
  <p:custDataLst>
    <p:tags r:id="rId2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30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6" d="100"/>
          <a:sy n="66" d="100"/>
        </p:scale>
        <p:origin x="2178" y="8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handoutMaster" Target="handoutMasters/handoutMaster1.xml"/><Relationship Id="rId12" Type="http://schemas.openxmlformats.org/officeDocument/2006/relationships/font" Target="fonts/font5.fntdata"/><Relationship Id="rId17" Type="http://schemas.openxmlformats.org/officeDocument/2006/relationships/font" Target="fonts/font10.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9.fntdata"/><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4.fntdata"/><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8.fntdata"/><Relationship Id="rId23" Type="http://schemas.openxmlformats.org/officeDocument/2006/relationships/theme" Target="theme/theme1.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3"/>
          <c:y val="0.2"/>
          <c:w val="0.94"/>
          <c:h val="0.66"/>
        </c:manualLayout>
      </c:layout>
      <c:barChart>
        <c:barDir val="col"/>
        <c:grouping val="stacked"/>
        <c:varyColors val="1"/>
        <c:ser>
          <c:idx val="0"/>
          <c:order val="0"/>
          <c:tx>
            <c:strRef>
              <c:f>Sheet1!$B$1</c:f>
              <c:strCache>
                <c:ptCount val="1"/>
                <c:pt idx="0">
                  <c:v>G&amp;A</c:v>
                </c:pt>
              </c:strCache>
            </c:strRef>
          </c:tx>
          <c:spPr>
            <a:solidFill>
              <a:srgbClr val="083358"/>
            </a:solidFill>
            <a:ln w="9525">
              <a:solidFill>
                <a:srgbClr val="FFFFFF"/>
              </a:solidFill>
            </a:ln>
          </c:spPr>
          <c:invertIfNegative val="0"/>
          <c:dLbls>
            <c:dLbl>
              <c:idx val="0"/>
              <c:spPr/>
              <c:txPr>
                <a:bodyPr/>
                <a:lstStyle/>
                <a:p>
                  <a:pPr>
                    <a:defRPr sz="900" b="0">
                      <a:solidFill>
                        <a:srgbClr val="FFFFFF"/>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AB4-4861-9C6A-7B0B70D7EC6C}"/>
                </c:ext>
              </c:extLst>
            </c:dLbl>
            <c:dLbl>
              <c:idx val="1"/>
              <c:spPr/>
              <c:txPr>
                <a:bodyPr/>
                <a:lstStyle/>
                <a:p>
                  <a:pPr>
                    <a:defRPr sz="900" b="0">
                      <a:solidFill>
                        <a:srgbClr val="FFFFFF"/>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AB4-4861-9C6A-7B0B70D7EC6C}"/>
                </c:ext>
              </c:extLst>
            </c:dLbl>
            <c:dLbl>
              <c:idx val="2"/>
              <c:spPr/>
              <c:txPr>
                <a:bodyPr/>
                <a:lstStyle/>
                <a:p>
                  <a:pPr>
                    <a:defRPr sz="900" b="0">
                      <a:solidFill>
                        <a:srgbClr val="FFFFFF"/>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AB4-4861-9C6A-7B0B70D7EC6C}"/>
                </c:ext>
              </c:extLst>
            </c:dLbl>
            <c:dLbl>
              <c:idx val="3"/>
              <c:spPr/>
              <c:txPr>
                <a:bodyPr/>
                <a:lstStyle/>
                <a:p>
                  <a:pPr>
                    <a:defRPr sz="900" b="0">
                      <a:solidFill>
                        <a:srgbClr val="FFFFFF"/>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AB4-4861-9C6A-7B0B70D7EC6C}"/>
                </c:ext>
              </c:extLst>
            </c:dLbl>
            <c:dLbl>
              <c:idx val="4"/>
              <c:spPr/>
              <c:txPr>
                <a:bodyPr/>
                <a:lstStyle/>
                <a:p>
                  <a:pPr>
                    <a:defRPr sz="900" b="0">
                      <a:solidFill>
                        <a:srgbClr val="FFFFFF"/>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AB4-4861-9C6A-7B0B70D7EC6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Sheet1!$B$2:$B$6</c:f>
              <c:numCache>
                <c:formatCode>0.00</c:formatCode>
                <c:ptCount val="5"/>
                <c:pt idx="0">
                  <c:v>3.1935319999999998</c:v>
                </c:pt>
                <c:pt idx="1">
                  <c:v>3.1541860000000002</c:v>
                </c:pt>
                <c:pt idx="2">
                  <c:v>3.3456830000000002</c:v>
                </c:pt>
                <c:pt idx="3">
                  <c:v>3.4600930000000001</c:v>
                </c:pt>
                <c:pt idx="4">
                  <c:v>3.4827089999999998</c:v>
                </c:pt>
              </c:numCache>
            </c:numRef>
          </c:val>
          <c:extLst>
            <c:ext xmlns:c16="http://schemas.microsoft.com/office/drawing/2014/chart" uri="{C3380CC4-5D6E-409C-BE32-E72D297353CC}">
              <c16:uniqueId val="{00000005-AAB4-4861-9C6A-7B0B70D7EC6C}"/>
            </c:ext>
          </c:extLst>
        </c:ser>
        <c:ser>
          <c:idx val="1"/>
          <c:order val="1"/>
          <c:tx>
            <c:strRef>
              <c:f>Sheet1!$C$1</c:f>
              <c:strCache>
                <c:ptCount val="1"/>
                <c:pt idx="0">
                  <c:v>Selling excl. freight</c:v>
                </c:pt>
              </c:strCache>
            </c:strRef>
          </c:tx>
          <c:spPr>
            <a:solidFill>
              <a:srgbClr val="B4C3D3"/>
            </a:solidFill>
            <a:ln w="9525">
              <a:solidFill>
                <a:srgbClr val="FFFFFF"/>
              </a:solidFill>
            </a:ln>
          </c:spPr>
          <c:invertIfNegative val="0"/>
          <c:dLbls>
            <c:dLbl>
              <c:idx val="0"/>
              <c:spPr/>
              <c:txPr>
                <a:bodyPr/>
                <a:lstStyle/>
                <a:p>
                  <a:pPr>
                    <a:defRPr sz="850" b="0">
                      <a:solidFill>
                        <a:srgbClr val="161616"/>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AB4-4861-9C6A-7B0B70D7EC6C}"/>
                </c:ext>
              </c:extLst>
            </c:dLbl>
            <c:dLbl>
              <c:idx val="1"/>
              <c:spPr/>
              <c:txPr>
                <a:bodyPr/>
                <a:lstStyle/>
                <a:p>
                  <a:pPr>
                    <a:defRPr sz="850" b="0">
                      <a:solidFill>
                        <a:srgbClr val="161616"/>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AB4-4861-9C6A-7B0B70D7EC6C}"/>
                </c:ext>
              </c:extLst>
            </c:dLbl>
            <c:dLbl>
              <c:idx val="2"/>
              <c:spPr/>
              <c:txPr>
                <a:bodyPr/>
                <a:lstStyle/>
                <a:p>
                  <a:pPr>
                    <a:defRPr sz="850" b="0">
                      <a:solidFill>
                        <a:srgbClr val="161616"/>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AB4-4861-9C6A-7B0B70D7EC6C}"/>
                </c:ext>
              </c:extLst>
            </c:dLbl>
            <c:dLbl>
              <c:idx val="3"/>
              <c:spPr/>
              <c:txPr>
                <a:bodyPr/>
                <a:lstStyle/>
                <a:p>
                  <a:pPr>
                    <a:defRPr sz="850" b="0">
                      <a:solidFill>
                        <a:srgbClr val="161616"/>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AB4-4861-9C6A-7B0B70D7EC6C}"/>
                </c:ext>
              </c:extLst>
            </c:dLbl>
            <c:dLbl>
              <c:idx val="4"/>
              <c:spPr/>
              <c:txPr>
                <a:bodyPr/>
                <a:lstStyle/>
                <a:p>
                  <a:pPr>
                    <a:defRPr sz="850" b="0">
                      <a:solidFill>
                        <a:srgbClr val="161616"/>
                      </a:solidFill>
                      <a:latin typeface="Univers Light"/>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AB4-4861-9C6A-7B0B70D7EC6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Sheet1!$C$2:$C$6</c:f>
              <c:numCache>
                <c:formatCode>0.00</c:formatCode>
                <c:ptCount val="5"/>
                <c:pt idx="0">
                  <c:v>0.92310499999999995</c:v>
                </c:pt>
                <c:pt idx="1">
                  <c:v>0.77409399999999995</c:v>
                </c:pt>
                <c:pt idx="2">
                  <c:v>0.85586799999999996</c:v>
                </c:pt>
                <c:pt idx="3">
                  <c:v>0.82345199999999996</c:v>
                </c:pt>
                <c:pt idx="4">
                  <c:v>0.88068199999999996</c:v>
                </c:pt>
              </c:numCache>
            </c:numRef>
          </c:val>
          <c:extLst>
            <c:ext xmlns:c16="http://schemas.microsoft.com/office/drawing/2014/chart" uri="{C3380CC4-5D6E-409C-BE32-E72D297353CC}">
              <c16:uniqueId val="{0000000B-AAB4-4861-9C6A-7B0B70D7EC6C}"/>
            </c:ext>
          </c:extLst>
        </c:ser>
        <c:ser>
          <c:idx val="2"/>
          <c:order val="2"/>
          <c:tx>
            <c:strRef>
              <c:f>Sheet1!$D$1</c:f>
              <c:strCache>
                <c:ptCount val="1"/>
                <c:pt idx="0">
                  <c:v>Total</c:v>
                </c:pt>
              </c:strCache>
            </c:strRef>
          </c:tx>
          <c:spPr>
            <a:noFill/>
            <a:ln>
              <a:noFill/>
            </a:ln>
          </c:spPr>
          <c:invertIfNegative val="1"/>
          <c:dLbls>
            <c:dLbl>
              <c:idx val="0"/>
              <c:tx>
                <c:rich>
                  <a:bodyPr/>
                  <a:lstStyle/>
                  <a:p>
                    <a:r>
                      <a:rPr lang="en-US" sz="900" b="1" i="0">
                        <a:solidFill>
                          <a:srgbClr val="161616"/>
                        </a:solidFill>
                        <a:latin typeface="Univers Light"/>
                      </a:rPr>
                      <a:t>4.1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AAB4-4861-9C6A-7B0B70D7EC6C}"/>
                </c:ext>
              </c:extLst>
            </c:dLbl>
            <c:dLbl>
              <c:idx val="1"/>
              <c:tx>
                <c:rich>
                  <a:bodyPr/>
                  <a:lstStyle/>
                  <a:p>
                    <a:r>
                      <a:rPr lang="en-US" sz="900" b="1" i="0">
                        <a:solidFill>
                          <a:srgbClr val="161616"/>
                        </a:solidFill>
                        <a:latin typeface="Univers Light"/>
                      </a:rPr>
                      <a:t>3.9</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AAB4-4861-9C6A-7B0B70D7EC6C}"/>
                </c:ext>
              </c:extLst>
            </c:dLbl>
            <c:dLbl>
              <c:idx val="2"/>
              <c:tx>
                <c:rich>
                  <a:bodyPr/>
                  <a:lstStyle/>
                  <a:p>
                    <a:r>
                      <a:rPr lang="en-US" sz="900" b="1" i="0">
                        <a:solidFill>
                          <a:srgbClr val="161616"/>
                        </a:solidFill>
                        <a:latin typeface="Univers Light"/>
                      </a:rPr>
                      <a:t>4.2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AAB4-4861-9C6A-7B0B70D7EC6C}"/>
                </c:ext>
              </c:extLst>
            </c:dLbl>
            <c:dLbl>
              <c:idx val="3"/>
              <c:tx>
                <c:rich>
                  <a:bodyPr/>
                  <a:lstStyle/>
                  <a:p>
                    <a:r>
                      <a:rPr lang="en-US" sz="900" b="1" i="0">
                        <a:solidFill>
                          <a:srgbClr val="161616"/>
                        </a:solidFill>
                        <a:latin typeface="Univers Light"/>
                      </a:rPr>
                      <a:t>4.3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AAB4-4861-9C6A-7B0B70D7EC6C}"/>
                </c:ext>
              </c:extLst>
            </c:dLbl>
            <c:dLbl>
              <c:idx val="4"/>
              <c:tx>
                <c:rich>
                  <a:bodyPr/>
                  <a:lstStyle/>
                  <a:p>
                    <a:r>
                      <a:rPr lang="en-US" sz="900" b="1" i="0">
                        <a:solidFill>
                          <a:srgbClr val="161616"/>
                        </a:solidFill>
                        <a:latin typeface="Univers Light"/>
                      </a:rPr>
                      <a:t>4.4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AAB4-4861-9C6A-7B0B70D7EC6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Sheet1!$D$2:$D$6</c:f>
              <c:numCache>
                <c:formatCode>0.00</c:formatCode>
                <c:ptCount val="5"/>
                <c:pt idx="0">
                  <c:v>0.45</c:v>
                </c:pt>
                <c:pt idx="1">
                  <c:v>0.45</c:v>
                </c:pt>
                <c:pt idx="2">
                  <c:v>0.45</c:v>
                </c:pt>
                <c:pt idx="3">
                  <c:v>0.45</c:v>
                </c:pt>
                <c:pt idx="4">
                  <c:v>0.45</c:v>
                </c:pt>
              </c:numCache>
            </c:numRef>
          </c:val>
          <c:extLst>
            <c:ext xmlns:c16="http://schemas.microsoft.com/office/drawing/2014/chart" uri="{C3380CC4-5D6E-409C-BE32-E72D297353CC}">
              <c16:uniqueId val="{00000011-AAB4-4861-9C6A-7B0B70D7EC6C}"/>
            </c:ext>
          </c:extLst>
        </c:ser>
        <c:dLbls>
          <c:showLegendKey val="0"/>
          <c:showVal val="0"/>
          <c:showCatName val="0"/>
          <c:showSerName val="0"/>
          <c:showPercent val="0"/>
          <c:showBubbleSize val="0"/>
        </c:dLbls>
        <c:gapWidth val="55"/>
        <c:overlap val="10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CCDCF0"/>
            </a:solidFill>
          </a:ln>
        </c:spPr>
        <c:txPr>
          <a:bodyPr/>
          <a:lstStyle/>
          <a:p>
            <a:pPr>
              <a:defRPr sz="900">
                <a:solidFill>
                  <a:srgbClr val="595959"/>
                </a:solidFill>
                <a:latin typeface="Univers Light"/>
              </a:defRPr>
            </a:pPr>
            <a:endParaRPr lang="en-US"/>
          </a:p>
        </c:txPr>
        <c:crossAx val="-2113994440"/>
        <c:crosses val="min"/>
        <c:auto val="1"/>
        <c:lblAlgn val="ctr"/>
        <c:lblOffset val="100"/>
        <c:noMultiLvlLbl val="0"/>
      </c:catAx>
      <c:valAx>
        <c:axId val="-2113994440"/>
        <c:scaling>
          <c:orientation val="minMax"/>
          <c:max val="5"/>
          <c:min val="0"/>
        </c:scaling>
        <c:delete val="1"/>
        <c:axPos val="l"/>
        <c:numFmt formatCode="0.00"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INTP</c:v>
                </c:pt>
              </c:strCache>
            </c:strRef>
          </c:tx>
          <c:spPr>
            <a:ln w="19050">
              <a:solidFill>
                <a:srgbClr val="358FD1"/>
              </a:solidFill>
            </a:ln>
          </c:spPr>
          <c:marker>
            <c:symbol val="circle"/>
            <c:size val="5"/>
            <c:spPr>
              <a:solidFill>
                <a:srgbClr val="358FD1"/>
              </a:solidFill>
              <a:ln>
                <a:solidFill>
                  <a:srgbClr val="358FD1"/>
                </a:solidFill>
              </a:ln>
            </c:spPr>
          </c:marker>
          <c:dLbls>
            <c:dLbl>
              <c:idx val="0"/>
              <c:spPr>
                <a:solidFill>
                  <a:srgbClr val="358FD1"/>
                </a:solidFill>
                <a:ln>
                  <a:noFill/>
                </a:ln>
              </c:spPr>
              <c:txPr>
                <a:bodyPr/>
                <a:lstStyle/>
                <a:p>
                  <a:pPr>
                    <a:defRPr sz="900" b="1">
                      <a:solidFill>
                        <a:srgbClr val="FFFFFF"/>
                      </a:solidFill>
                      <a:latin typeface="Univers Light"/>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F3C-475A-A7C6-C888E8B9D39C}"/>
                </c:ext>
              </c:extLst>
            </c:dLbl>
            <c:dLbl>
              <c:idx val="1"/>
              <c:spPr>
                <a:solidFill>
                  <a:srgbClr val="358FD1"/>
                </a:solidFill>
                <a:ln>
                  <a:noFill/>
                </a:ln>
              </c:spPr>
              <c:txPr>
                <a:bodyPr/>
                <a:lstStyle/>
                <a:p>
                  <a:pPr>
                    <a:defRPr sz="900" b="1">
                      <a:solidFill>
                        <a:srgbClr val="FFFFFF"/>
                      </a:solidFill>
                      <a:latin typeface="Univers Light"/>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F3C-475A-A7C6-C888E8B9D39C}"/>
                </c:ext>
              </c:extLst>
            </c:dLbl>
            <c:dLbl>
              <c:idx val="2"/>
              <c:spPr>
                <a:solidFill>
                  <a:srgbClr val="358FD1"/>
                </a:solidFill>
                <a:ln>
                  <a:noFill/>
                </a:ln>
              </c:spPr>
              <c:txPr>
                <a:bodyPr/>
                <a:lstStyle/>
                <a:p>
                  <a:pPr>
                    <a:defRPr sz="900" b="1">
                      <a:solidFill>
                        <a:srgbClr val="FFFFFF"/>
                      </a:solidFill>
                      <a:latin typeface="Univers Light"/>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F3C-475A-A7C6-C888E8B9D39C}"/>
                </c:ext>
              </c:extLst>
            </c:dLbl>
            <c:dLbl>
              <c:idx val="3"/>
              <c:spPr>
                <a:solidFill>
                  <a:srgbClr val="358FD1"/>
                </a:solidFill>
                <a:ln>
                  <a:noFill/>
                </a:ln>
              </c:spPr>
              <c:txPr>
                <a:bodyPr/>
                <a:lstStyle/>
                <a:p>
                  <a:pPr>
                    <a:defRPr sz="900" b="1">
                      <a:solidFill>
                        <a:srgbClr val="FFFFFF"/>
                      </a:solidFill>
                      <a:latin typeface="Univers Light"/>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F3C-475A-A7C6-C888E8B9D39C}"/>
                </c:ext>
              </c:extLst>
            </c:dLbl>
            <c:dLbl>
              <c:idx val="4"/>
              <c:spPr>
                <a:solidFill>
                  <a:srgbClr val="358FD1"/>
                </a:solidFill>
                <a:ln>
                  <a:noFill/>
                </a:ln>
              </c:spPr>
              <c:txPr>
                <a:bodyPr/>
                <a:lstStyle/>
                <a:p>
                  <a:pPr>
                    <a:defRPr sz="900" b="1">
                      <a:solidFill>
                        <a:srgbClr val="FFFFFF"/>
                      </a:solidFill>
                      <a:latin typeface="Univers Light"/>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F3C-475A-A7C6-C888E8B9D39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Sheet1!$B$2:$B$6</c:f>
              <c:numCache>
                <c:formatCode>0.0%</c:formatCode>
                <c:ptCount val="5"/>
                <c:pt idx="0">
                  <c:v>7.5067090191340238E-2</c:v>
                </c:pt>
                <c:pt idx="1">
                  <c:v>7.7129198804674934E-2</c:v>
                </c:pt>
                <c:pt idx="2">
                  <c:v>7.2239366373559613E-2</c:v>
                </c:pt>
                <c:pt idx="3">
                  <c:v>7.5401965438719423E-2</c:v>
                </c:pt>
                <c:pt idx="4">
                  <c:v>8.2672745898357172E-2</c:v>
                </c:pt>
              </c:numCache>
            </c:numRef>
          </c:val>
          <c:smooth val="0"/>
          <c:extLst>
            <c:ext xmlns:c16="http://schemas.microsoft.com/office/drawing/2014/chart" uri="{C3380CC4-5D6E-409C-BE32-E72D297353CC}">
              <c16:uniqueId val="{00000005-FF3C-475A-A7C6-C888E8B9D39C}"/>
            </c:ext>
          </c:extLst>
        </c:ser>
        <c:ser>
          <c:idx val="1"/>
          <c:order val="1"/>
          <c:tx>
            <c:strRef>
              <c:f>Sheet1!$C$1</c:f>
              <c:strCache>
                <c:ptCount val="1"/>
                <c:pt idx="0">
                  <c:v>SIG</c:v>
                </c:pt>
              </c:strCache>
            </c:strRef>
          </c:tx>
          <c:spPr>
            <a:ln w="19050">
              <a:solidFill>
                <a:srgbClr val="083358"/>
              </a:solidFill>
            </a:ln>
          </c:spPr>
          <c:marker>
            <c:symbol val="circle"/>
            <c:size val="5"/>
            <c:spPr>
              <a:solidFill>
                <a:srgbClr val="083358"/>
              </a:solidFill>
              <a:ln>
                <a:solidFill>
                  <a:srgbClr val="083358"/>
                </a:solidFill>
              </a:ln>
            </c:spPr>
          </c:marker>
          <c:dLbls>
            <c:dLbl>
              <c:idx val="0"/>
              <c:spPr>
                <a:solidFill>
                  <a:srgbClr val="083358"/>
                </a:solidFill>
                <a:ln>
                  <a:noFill/>
                </a:ln>
              </c:spPr>
              <c:txPr>
                <a:bodyPr/>
                <a:lstStyle/>
                <a:p>
                  <a:pPr>
                    <a:defRPr sz="900" b="1">
                      <a:solidFill>
                        <a:srgbClr val="FFFFFF"/>
                      </a:solidFill>
                      <a:latin typeface="Univers Light"/>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F3C-475A-A7C6-C888E8B9D39C}"/>
                </c:ext>
              </c:extLst>
            </c:dLbl>
            <c:dLbl>
              <c:idx val="1"/>
              <c:spPr>
                <a:solidFill>
                  <a:srgbClr val="083358"/>
                </a:solidFill>
                <a:ln>
                  <a:noFill/>
                </a:ln>
              </c:spPr>
              <c:txPr>
                <a:bodyPr/>
                <a:lstStyle/>
                <a:p>
                  <a:pPr>
                    <a:defRPr sz="900" b="1">
                      <a:solidFill>
                        <a:srgbClr val="FFFFFF"/>
                      </a:solidFill>
                      <a:latin typeface="Univers Light"/>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F3C-475A-A7C6-C888E8B9D39C}"/>
                </c:ext>
              </c:extLst>
            </c:dLbl>
            <c:dLbl>
              <c:idx val="2"/>
              <c:spPr>
                <a:solidFill>
                  <a:srgbClr val="083358"/>
                </a:solidFill>
                <a:ln>
                  <a:noFill/>
                </a:ln>
              </c:spPr>
              <c:txPr>
                <a:bodyPr/>
                <a:lstStyle/>
                <a:p>
                  <a:pPr>
                    <a:defRPr sz="900" b="1">
                      <a:solidFill>
                        <a:srgbClr val="FFFFFF"/>
                      </a:solidFill>
                      <a:latin typeface="Univers Light"/>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F3C-475A-A7C6-C888E8B9D39C}"/>
                </c:ext>
              </c:extLst>
            </c:dLbl>
            <c:dLbl>
              <c:idx val="3"/>
              <c:spPr>
                <a:solidFill>
                  <a:srgbClr val="083358"/>
                </a:solidFill>
                <a:ln>
                  <a:noFill/>
                </a:ln>
              </c:spPr>
              <c:txPr>
                <a:bodyPr/>
                <a:lstStyle/>
                <a:p>
                  <a:pPr>
                    <a:defRPr sz="900" b="1">
                      <a:solidFill>
                        <a:srgbClr val="FFFFFF"/>
                      </a:solidFill>
                      <a:latin typeface="Univers Light"/>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F3C-475A-A7C6-C888E8B9D39C}"/>
                </c:ext>
              </c:extLst>
            </c:dLbl>
            <c:dLbl>
              <c:idx val="4"/>
              <c:spPr>
                <a:solidFill>
                  <a:srgbClr val="083358"/>
                </a:solidFill>
                <a:ln>
                  <a:noFill/>
                </a:ln>
              </c:spPr>
              <c:txPr>
                <a:bodyPr/>
                <a:lstStyle/>
                <a:p>
                  <a:pPr>
                    <a:defRPr sz="900" b="1">
                      <a:solidFill>
                        <a:srgbClr val="FFFFFF"/>
                      </a:solidFill>
                      <a:latin typeface="Univers Light"/>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F3C-475A-A7C6-C888E8B9D39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FY21</c:v>
                </c:pt>
                <c:pt idx="1">
                  <c:v>FY22</c:v>
                </c:pt>
                <c:pt idx="2">
                  <c:v>FY23</c:v>
                </c:pt>
                <c:pt idx="3">
                  <c:v>FY24</c:v>
                </c:pt>
                <c:pt idx="4">
                  <c:v>FY25</c:v>
                </c:pt>
              </c:strCache>
            </c:strRef>
          </c:cat>
          <c:val>
            <c:numRef>
              <c:f>Sheet1!$C$2:$C$6</c:f>
              <c:numCache>
                <c:formatCode>0.0%</c:formatCode>
                <c:ptCount val="5"/>
                <c:pt idx="0">
                  <c:v>0.1121629131644907</c:v>
                </c:pt>
                <c:pt idx="1">
                  <c:v>0.10798327379145491</c:v>
                </c:pt>
                <c:pt idx="2">
                  <c:v>0.1087038334485514</c:v>
                </c:pt>
                <c:pt idx="3">
                  <c:v>0.1183753375983011</c:v>
                </c:pt>
                <c:pt idx="4">
                  <c:v>0.1238060897660978</c:v>
                </c:pt>
              </c:numCache>
            </c:numRef>
          </c:val>
          <c:smooth val="0"/>
          <c:extLst>
            <c:ext xmlns:c16="http://schemas.microsoft.com/office/drawing/2014/chart" uri="{C3380CC4-5D6E-409C-BE32-E72D297353CC}">
              <c16:uniqueId val="{0000000B-FF3C-475A-A7C6-C888E8B9D39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w="9525">
            <a:solidFill>
              <a:srgbClr val="CCDCF0"/>
            </a:solidFill>
          </a:ln>
        </c:spPr>
        <c:txPr>
          <a:bodyPr/>
          <a:lstStyle/>
          <a:p>
            <a:pPr>
              <a:defRPr sz="900">
                <a:solidFill>
                  <a:srgbClr val="595959"/>
                </a:solidFill>
                <a:latin typeface="Univers Light"/>
              </a:defRPr>
            </a:pPr>
            <a:endParaRPr lang="en-US"/>
          </a:p>
        </c:txPr>
        <c:crossAx val="2140495176"/>
        <c:crosses val="min"/>
        <c:auto val="1"/>
        <c:lblAlgn val="ctr"/>
        <c:lblOffset val="100"/>
        <c:noMultiLvlLbl val="0"/>
      </c:catAx>
      <c:valAx>
        <c:axId val="2140495176"/>
        <c:scaling>
          <c:orientation val="minMax"/>
          <c:max val="0.15"/>
          <c:min val="0.04"/>
        </c:scaling>
        <c:delete val="1"/>
        <c:axPos val="l"/>
        <c:numFmt formatCode="0.0%" sourceLinked="1"/>
        <c:majorTickMark val="out"/>
        <c:minorTickMark val="none"/>
        <c:tickLblPos val="nextTo"/>
        <c:crossAx val="2118791784"/>
        <c:crosses val="autoZero"/>
        <c:crossBetween val="between"/>
      </c:valAx>
      <c:spPr>
        <a:noFill/>
        <a:ln>
          <a:noFill/>
        </a:ln>
      </c:spPr>
    </c:plotArea>
    <c:plotVisOnly val="1"/>
    <c:dispBlanksAs val="gap"/>
    <c:showDLblsOverMax val="0"/>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CC01D-199E-C977-D8CC-3436A2024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D0E72-7B68-0763-C09D-3D374D8C7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566B7-6512-0583-51F3-73047EE61B2A}"/>
              </a:ext>
            </a:extLst>
          </p:cNvPr>
          <p:cNvSpPr>
            <a:spLocks noGrp="1"/>
          </p:cNvSpPr>
          <p:nvPr>
            <p:ph type="body" idx="1"/>
          </p:nvPr>
        </p:nvSpPr>
        <p:spPr/>
        <p:txBody>
          <a:bodyPr/>
          <a:lstStyle/>
          <a:p>
            <a:r>
              <a:t>All opex figures are from IS (Presentation). Core opex = SG&amp;A excl. freight from the comparable P&amp;L. Selling excl. freight = SG&amp;A excl. freight minus reported G&amp;A.</a:t>
            </a:r>
          </a:p>
          <a:p>
            <a:r>
              <a:t>Why not reported figures: SIG's reported selling expenses fell –38% (Rp3.30 T → Rp2.05 T), but 97% of the drop is freight moving out of selling (Rp2.37 T → Rp1.17 T). On a reported basis SIG's SG&amp;A ratio falls from 17.7% to 15.7%, a false saving. INTP books all freight in selling, so only the comparable basis is like for like.</a:t>
            </a:r>
          </a:p>
          <a:p>
            <a:r>
              <a:t>Devil's advocate on other operating items: the line is net (income and expense mixed) and flips sign (SIG –0.03, +0.06, +0.19, –0.13, –0.29 Rp T). Including it, SIG opex grows +2.9% a year vs INTP +12.5%. The FY25 net expense equals 23% of EBIT, so it is shown, but separately.</a:t>
            </a:r>
          </a:p>
          <a:p>
            <a:r>
              <a:t>Benchmark: sector PPI (BPS, non-metallic mineral products) +12.2% cumulative, +2.9% a year. It asks whether overhead grew faster than what the sector can charge. CPI (+3.1% a year) gives the same answer.</a:t>
            </a:r>
          </a:p>
          <a:p>
            <a:r>
              <a:t>Per ton FY25: SIG Rp115k vs INTP Rp74k.</a:t>
            </a:r>
          </a:p>
          <a:p>
            <a:r>
              <a:t>EBIT margin 14.2% → 3.6%: gross margin after freight –8.7 pp, opex –1.2 pp, other operating –0.7 pp.</a:t>
            </a:r>
          </a:p>
          <a:p>
            <a:r>
              <a:t>Structural gap (interpretation): SIG is a holding with many entities, now being streamlined (several entities liquidated May to July 2026 per company disclosures), and runs multiple cement brands (SIG corporate presentation). The gap has not widened, so it explains the level, not the decline.</a:t>
            </a:r>
          </a:p>
        </p:txBody>
      </p:sp>
    </p:spTree>
    <p:extLst>
      <p:ext uri="{BB962C8B-B14F-4D97-AF65-F5344CB8AC3E}">
        <p14:creationId xmlns:p14="http://schemas.microsoft.com/office/powerpoint/2010/main" val="42394723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9FC3C-69B1-D2EE-59E3-B042056DE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E0444-1D85-DBFD-C037-85BE08E8499C}"/>
              </a:ext>
            </a:extLst>
          </p:cNvPr>
          <p:cNvSpPr>
            <a:spLocks noGrp="1"/>
          </p:cNvSpPr>
          <p:nvPr>
            <p:ph type="title"/>
          </p:nvPr>
        </p:nvSpPr>
        <p:spPr/>
        <p:txBody>
          <a:bodyPr/>
          <a:lstStyle/>
          <a:p>
            <a:r>
              <a:rPr lang="en-US" dirty="0"/>
              <a:t>OPEX deep dive</a:t>
            </a:r>
            <a:endParaRPr lang="en-ID" dirty="0"/>
          </a:p>
        </p:txBody>
      </p:sp>
      <p:sp>
        <p:nvSpPr>
          <p:cNvPr id="3" name="Content Placeholder 2">
            <a:extLst>
              <a:ext uri="{FF2B5EF4-FFF2-40B4-BE49-F238E27FC236}">
                <a16:creationId xmlns:a16="http://schemas.microsoft.com/office/drawing/2014/main" id="{718135CF-86A9-D0BC-7A9B-2D24AFE87316}"/>
              </a:ext>
            </a:extLst>
          </p:cNvPr>
          <p:cNvSpPr>
            <a:spLocks noGrp="1"/>
          </p:cNvSpPr>
          <p:nvPr>
            <p:ph sz="quarter" idx="11"/>
          </p:nvPr>
        </p:nvSpPr>
        <p:spPr/>
        <p:txBody>
          <a:bodyPr/>
          <a:lstStyle/>
          <a:p>
            <a:r>
              <a:rPr lang="en-US" dirty="0"/>
              <a:t>Financial Analysis – Profitability Analysis</a:t>
            </a:r>
            <a:endParaRPr lang="en-ID" dirty="0"/>
          </a:p>
        </p:txBody>
      </p:sp>
      <p:sp>
        <p:nvSpPr>
          <p:cNvPr id="4" name="Slide Number Placeholder 3">
            <a:extLst>
              <a:ext uri="{FF2B5EF4-FFF2-40B4-BE49-F238E27FC236}">
                <a16:creationId xmlns:a16="http://schemas.microsoft.com/office/drawing/2014/main" id="{3184522D-5B8D-7DEE-FBB3-31A77096EFE9}"/>
              </a:ext>
            </a:extLst>
          </p:cNvPr>
          <p:cNvSpPr>
            <a:spLocks noGrp="1"/>
          </p:cNvSpPr>
          <p:nvPr>
            <p:ph type="sldNum" sz="quarter" idx="4"/>
          </p:nvPr>
        </p:nvSpPr>
        <p:spPr/>
        <p:txBody>
          <a:bodyPr/>
          <a:lstStyle/>
          <a:p>
            <a:fld id="{5927C8ED-2499-455D-815A-8FC10D954B50}" type="slidenum">
              <a:rPr lang="en-ID" b="1" smtClean="0"/>
              <a:pPr/>
              <a:t>1</a:t>
            </a:fld>
            <a:endParaRPr lang="en-ID" b="1"/>
          </a:p>
        </p:txBody>
      </p:sp>
      <p:sp>
        <p:nvSpPr>
          <p:cNvPr id="5" name="Text Placeholder 4">
            <a:extLst>
              <a:ext uri="{FF2B5EF4-FFF2-40B4-BE49-F238E27FC236}">
                <a16:creationId xmlns:a16="http://schemas.microsoft.com/office/drawing/2014/main" id="{6DCF6BB8-5751-B555-2A2F-3B94677D7B81}"/>
              </a:ext>
            </a:extLst>
          </p:cNvPr>
          <p:cNvSpPr>
            <a:spLocks noGrp="1"/>
          </p:cNvSpPr>
          <p:nvPr>
            <p:ph type="body" sz="quarter" idx="10"/>
          </p:nvPr>
        </p:nvSpPr>
        <p:spPr>
          <a:xfrm>
            <a:off x="515938" y="6558846"/>
            <a:ext cx="9517062" cy="252000"/>
          </a:xfrm>
        </p:spPr>
        <p:txBody>
          <a:bodyPr/>
          <a:lstStyle/>
          <a:p>
            <a:pPr algn="l">
              <a:spcAft>
                <a:spcPts val="0"/>
              </a:spcAft>
              <a:buNone/>
            </a:pPr>
            <a:r>
              <a:rPr sz="800" b="0" i="0">
                <a:solidFill>
                  <a:srgbClr val="7F7F7F"/>
                </a:solidFill>
                <a:latin typeface="Univers Light"/>
              </a:rPr>
              <a:t>Note: core opex = selling expenses excl. freight + G&amp;A, comparable basis from IS (Presentation), with freight in delivered cost for both. Other operating income (expense) is net and shown separately. Sector PPI = BPS producer price index, non-metallic mineral products (KBLI 23), Q4 to Q4. Source: SIG and INTP audited financial statements FY2021–2025, BPS, Skha analysis</a:t>
            </a:r>
            <a:endParaRPr lang="en-ID"/>
          </a:p>
        </p:txBody>
      </p:sp>
      <p:sp>
        <p:nvSpPr>
          <p:cNvPr id="6" name="TextBox 5"/>
          <p:cNvSpPr txBox="1"/>
          <p:nvPr/>
        </p:nvSpPr>
        <p:spPr>
          <a:xfrm>
            <a:off x="515620" y="1447800"/>
            <a:ext cx="5453380" cy="381000"/>
          </a:xfrm>
          <a:prstGeom prst="rect">
            <a:avLst/>
          </a:prstGeom>
          <a:noFill/>
        </p:spPr>
        <p:txBody>
          <a:bodyPr wrap="square" lIns="0" tIns="0" rIns="0" bIns="0" anchor="b"/>
          <a:lstStyle/>
          <a:p>
            <a:pPr algn="l">
              <a:spcAft>
                <a:spcPts val="0"/>
              </a:spcAft>
              <a:buNone/>
            </a:pPr>
            <a:r>
              <a:rPr sz="1200" b="1" i="0">
                <a:solidFill>
                  <a:srgbClr val="161616"/>
                </a:solidFill>
                <a:latin typeface="Univers Light"/>
              </a:rPr>
              <a:t>SIG core opex barely moved (Rp4.1 T → Rp4.4 T, +1.5% a year), well below INTP's +7.2%</a:t>
            </a:r>
          </a:p>
        </p:txBody>
      </p:sp>
      <p:cxnSp>
        <p:nvCxnSpPr>
          <p:cNvPr id="7" name="Connector 6"/>
          <p:cNvCxnSpPr/>
          <p:nvPr/>
        </p:nvCxnSpPr>
        <p:spPr>
          <a:xfrm>
            <a:off x="515620" y="1866900"/>
            <a:ext cx="5453380" cy="0"/>
          </a:xfrm>
          <a:prstGeom prst="line">
            <a:avLst/>
          </a:prstGeom>
          <a:ln w="19050">
            <a:solidFill>
              <a:srgbClr val="1E64B0"/>
            </a:solidFill>
          </a:ln>
        </p:spPr>
      </p:cxnSp>
      <p:sp>
        <p:nvSpPr>
          <p:cNvPr id="8" name="TextBox 7"/>
          <p:cNvSpPr txBox="1"/>
          <p:nvPr/>
        </p:nvSpPr>
        <p:spPr>
          <a:xfrm>
            <a:off x="515620" y="1902460"/>
            <a:ext cx="5453380" cy="165100"/>
          </a:xfrm>
          <a:prstGeom prst="rect">
            <a:avLst/>
          </a:prstGeom>
          <a:noFill/>
        </p:spPr>
        <p:txBody>
          <a:bodyPr wrap="square" lIns="0" tIns="0" rIns="0" bIns="0" anchor="t"/>
          <a:lstStyle/>
          <a:p>
            <a:pPr algn="l">
              <a:spcAft>
                <a:spcPts val="0"/>
              </a:spcAft>
              <a:buNone/>
            </a:pPr>
            <a:r>
              <a:rPr sz="1050" b="0" i="0" dirty="0">
                <a:solidFill>
                  <a:srgbClr val="161616"/>
                </a:solidFill>
                <a:latin typeface="Univers Light"/>
              </a:rPr>
              <a:t>Core </a:t>
            </a:r>
            <a:r>
              <a:rPr sz="1050" b="0" i="0" dirty="0" err="1">
                <a:solidFill>
                  <a:srgbClr val="161616"/>
                </a:solidFill>
                <a:latin typeface="Univers Light"/>
              </a:rPr>
              <a:t>opex</a:t>
            </a:r>
            <a:r>
              <a:rPr sz="1050" b="0" i="0" dirty="0">
                <a:solidFill>
                  <a:srgbClr val="161616"/>
                </a:solidFill>
                <a:latin typeface="Univers Light"/>
              </a:rPr>
              <a:t> by type, Rp T (selling excl. freight + G&amp;A)</a:t>
            </a:r>
          </a:p>
        </p:txBody>
      </p:sp>
      <p:sp>
        <p:nvSpPr>
          <p:cNvPr id="9" name="Rectangle 8"/>
          <p:cNvSpPr/>
          <p:nvPr/>
        </p:nvSpPr>
        <p:spPr>
          <a:xfrm>
            <a:off x="515620" y="2139950"/>
            <a:ext cx="76200" cy="76200"/>
          </a:xfrm>
          <a:prstGeom prst="rect">
            <a:avLst/>
          </a:prstGeom>
          <a:solidFill>
            <a:srgbClr val="083358"/>
          </a:solidFill>
          <a:ln>
            <a:noFill/>
          </a:ln>
        </p:spPr>
        <p:txBody>
          <a:bodyPr lIns="0" tIns="0" rIns="0" bIns="0" rtlCol="0" anchor="ctr"/>
          <a:lstStyle/>
          <a:p>
            <a:pPr algn="ctr"/>
            <a:endParaRPr/>
          </a:p>
        </p:txBody>
      </p:sp>
      <p:sp>
        <p:nvSpPr>
          <p:cNvPr id="10" name="TextBox 9"/>
          <p:cNvSpPr txBox="1"/>
          <p:nvPr/>
        </p:nvSpPr>
        <p:spPr>
          <a:xfrm>
            <a:off x="642620" y="2108200"/>
            <a:ext cx="910335" cy="139700"/>
          </a:xfrm>
          <a:prstGeom prst="rect">
            <a:avLst/>
          </a:prstGeom>
          <a:noFill/>
        </p:spPr>
        <p:txBody>
          <a:bodyPr wrap="none" lIns="0" tIns="0" rIns="0" bIns="0" anchor="ctr"/>
          <a:lstStyle/>
          <a:p>
            <a:pPr algn="l">
              <a:spcAft>
                <a:spcPts val="0"/>
              </a:spcAft>
              <a:buNone/>
            </a:pPr>
            <a:r>
              <a:rPr sz="900" b="0" i="0">
                <a:solidFill>
                  <a:srgbClr val="161616"/>
                </a:solidFill>
                <a:latin typeface="Univers Light"/>
              </a:rPr>
              <a:t>G&amp;A (CAGR +2.2%)</a:t>
            </a:r>
          </a:p>
        </p:txBody>
      </p:sp>
      <p:sp>
        <p:nvSpPr>
          <p:cNvPr id="11" name="Rectangle 10"/>
          <p:cNvSpPr/>
          <p:nvPr/>
        </p:nvSpPr>
        <p:spPr>
          <a:xfrm>
            <a:off x="1705356" y="2139950"/>
            <a:ext cx="76200" cy="76200"/>
          </a:xfrm>
          <a:prstGeom prst="rect">
            <a:avLst/>
          </a:prstGeom>
          <a:solidFill>
            <a:srgbClr val="B4C3D3"/>
          </a:solidFill>
          <a:ln>
            <a:noFill/>
          </a:ln>
        </p:spPr>
        <p:txBody>
          <a:bodyPr lIns="0" tIns="0" rIns="0" bIns="0" rtlCol="0" anchor="ctr"/>
          <a:lstStyle/>
          <a:p>
            <a:pPr algn="ctr"/>
            <a:endParaRPr/>
          </a:p>
        </p:txBody>
      </p:sp>
      <p:sp>
        <p:nvSpPr>
          <p:cNvPr id="12" name="TextBox 11"/>
          <p:cNvSpPr txBox="1"/>
          <p:nvPr/>
        </p:nvSpPr>
        <p:spPr>
          <a:xfrm>
            <a:off x="1832356" y="2108200"/>
            <a:ext cx="1877314" cy="139700"/>
          </a:xfrm>
          <a:prstGeom prst="rect">
            <a:avLst/>
          </a:prstGeom>
          <a:noFill/>
        </p:spPr>
        <p:txBody>
          <a:bodyPr wrap="none" lIns="0" tIns="0" rIns="0" bIns="0" anchor="ctr"/>
          <a:lstStyle/>
          <a:p>
            <a:pPr algn="l">
              <a:spcAft>
                <a:spcPts val="0"/>
              </a:spcAft>
              <a:buNone/>
            </a:pPr>
            <a:r>
              <a:rPr sz="900" b="0" i="0">
                <a:solidFill>
                  <a:srgbClr val="161616"/>
                </a:solidFill>
                <a:latin typeface="Univers Light"/>
              </a:rPr>
              <a:t>Selling excl. freight (CAGR –1.2%)</a:t>
            </a:r>
          </a:p>
        </p:txBody>
      </p:sp>
      <p:graphicFrame>
        <p:nvGraphicFramePr>
          <p:cNvPr id="13" name="Chart SIG core opex"/>
          <p:cNvGraphicFramePr>
            <a:graphicFrameLocks noGrp="1"/>
          </p:cNvGraphicFramePr>
          <p:nvPr>
            <p:extLst>
              <p:ext uri="{D42A27DB-BD31-4B8C-83A1-F6EECF244321}">
                <p14:modId xmlns:p14="http://schemas.microsoft.com/office/powerpoint/2010/main" val="2664880257"/>
              </p:ext>
            </p:extLst>
          </p:nvPr>
        </p:nvGraphicFramePr>
        <p:xfrm>
          <a:off x="515620" y="2260600"/>
          <a:ext cx="5453380" cy="2438400"/>
        </p:xfrm>
        <a:graphic>
          <a:graphicData uri="http://schemas.openxmlformats.org/drawingml/2006/chart">
            <c:chart xmlns:c="http://schemas.openxmlformats.org/drawingml/2006/chart" xmlns:r="http://schemas.openxmlformats.org/officeDocument/2006/relationships" r:id="rId3"/>
          </a:graphicData>
        </a:graphic>
      </p:graphicFrame>
      <p:cxnSp>
        <p:nvCxnSpPr>
          <p:cNvPr id="14" name="Connector 13"/>
          <p:cNvCxnSpPr/>
          <p:nvPr/>
        </p:nvCxnSpPr>
        <p:spPr>
          <a:xfrm>
            <a:off x="1191839" y="2583180"/>
            <a:ext cx="4100941" cy="0"/>
          </a:xfrm>
          <a:prstGeom prst="line">
            <a:avLst/>
          </a:prstGeom>
          <a:ln w="12700">
            <a:solidFill>
              <a:srgbClr val="083358"/>
            </a:solidFill>
            <a:tailEnd type="triangle" w="med" len="med"/>
          </a:ln>
        </p:spPr>
      </p:cxnSp>
      <p:sp>
        <p:nvSpPr>
          <p:cNvPr id="15" name="Rectangle 14"/>
          <p:cNvSpPr/>
          <p:nvPr/>
        </p:nvSpPr>
        <p:spPr>
          <a:xfrm>
            <a:off x="2505710" y="2481580"/>
            <a:ext cx="1473200" cy="203200"/>
          </a:xfrm>
          <a:prstGeom prst="rect">
            <a:avLst/>
          </a:prstGeom>
          <a:solidFill>
            <a:srgbClr val="083358"/>
          </a:solidFill>
          <a:ln>
            <a:noFill/>
          </a:ln>
        </p:spPr>
        <p:txBody>
          <a:bodyPr lIns="0" tIns="0" rIns="0" bIns="0" rtlCol="0" anchor="ctr"/>
          <a:lstStyle/>
          <a:p>
            <a:pPr algn="ctr">
              <a:spcAft>
                <a:spcPts val="0"/>
              </a:spcAft>
              <a:buNone/>
            </a:pPr>
            <a:r>
              <a:rPr sz="900" b="1" i="0">
                <a:solidFill>
                  <a:srgbClr val="FFFFFF"/>
                </a:solidFill>
                <a:latin typeface="Univers Light"/>
              </a:rPr>
              <a:t>CAGR FY21–25  +1.5%</a:t>
            </a:r>
          </a:p>
        </p:txBody>
      </p:sp>
      <p:sp>
        <p:nvSpPr>
          <p:cNvPr id="16" name="Rectangle 15"/>
          <p:cNvSpPr/>
          <p:nvPr/>
        </p:nvSpPr>
        <p:spPr>
          <a:xfrm>
            <a:off x="515620" y="4724400"/>
            <a:ext cx="5453380" cy="355600"/>
          </a:xfrm>
          <a:prstGeom prst="rect">
            <a:avLst/>
          </a:prstGeom>
          <a:solidFill>
            <a:srgbClr val="F2F2F2"/>
          </a:solidFill>
          <a:ln>
            <a:noFill/>
          </a:ln>
        </p:spPr>
        <p:txBody>
          <a:bodyPr lIns="0" tIns="0" rIns="0" bIns="0" rtlCol="0" anchor="ctr"/>
          <a:lstStyle/>
          <a:p>
            <a:pPr algn="ctr"/>
            <a:endParaRPr/>
          </a:p>
        </p:txBody>
      </p:sp>
      <p:sp>
        <p:nvSpPr>
          <p:cNvPr id="17" name="TextBox 16"/>
          <p:cNvSpPr txBox="1"/>
          <p:nvPr/>
        </p:nvSpPr>
        <p:spPr>
          <a:xfrm>
            <a:off x="591820" y="4749800"/>
            <a:ext cx="5300980" cy="139700"/>
          </a:xfrm>
          <a:prstGeom prst="rect">
            <a:avLst/>
          </a:prstGeom>
          <a:noFill/>
        </p:spPr>
        <p:txBody>
          <a:bodyPr wrap="square" lIns="0" tIns="0" rIns="0" bIns="0" anchor="t"/>
          <a:lstStyle/>
          <a:p>
            <a:pPr algn="l">
              <a:spcAft>
                <a:spcPts val="0"/>
              </a:spcAft>
              <a:buNone/>
            </a:pPr>
            <a:r>
              <a:rPr sz="800" b="1" i="0" dirty="0">
                <a:solidFill>
                  <a:srgbClr val="7F7F7F"/>
                </a:solidFill>
                <a:latin typeface="Univers Light"/>
              </a:rPr>
              <a:t>Other operating income (expense), net, Rp T</a:t>
            </a:r>
            <a:r>
              <a:rPr sz="800" b="0" i="0" dirty="0">
                <a:solidFill>
                  <a:srgbClr val="7F7F7F"/>
                </a:solidFill>
                <a:latin typeface="Univers Light"/>
              </a:rPr>
              <a:t> – shown separately, not in core </a:t>
            </a:r>
            <a:r>
              <a:rPr sz="800" b="0" i="0" dirty="0" err="1">
                <a:solidFill>
                  <a:srgbClr val="7F7F7F"/>
                </a:solidFill>
                <a:latin typeface="Univers Light"/>
              </a:rPr>
              <a:t>opex</a:t>
            </a:r>
            <a:endParaRPr sz="800" b="0" i="0" dirty="0">
              <a:solidFill>
                <a:srgbClr val="7F7F7F"/>
              </a:solidFill>
              <a:latin typeface="Univers Light"/>
            </a:endParaRPr>
          </a:p>
        </p:txBody>
      </p:sp>
      <p:sp>
        <p:nvSpPr>
          <p:cNvPr id="18" name="TextBox 17"/>
          <p:cNvSpPr txBox="1"/>
          <p:nvPr/>
        </p:nvSpPr>
        <p:spPr>
          <a:xfrm>
            <a:off x="887039" y="4902200"/>
            <a:ext cx="609600" cy="152400"/>
          </a:xfrm>
          <a:prstGeom prst="rect">
            <a:avLst/>
          </a:prstGeom>
          <a:noFill/>
        </p:spPr>
        <p:txBody>
          <a:bodyPr wrap="square" lIns="0" tIns="0" rIns="0" bIns="0" anchor="t"/>
          <a:lstStyle/>
          <a:p>
            <a:pPr algn="ctr">
              <a:spcAft>
                <a:spcPts val="0"/>
              </a:spcAft>
              <a:buNone/>
            </a:pPr>
            <a:r>
              <a:rPr sz="900" b="1" i="0">
                <a:solidFill>
                  <a:srgbClr val="161616"/>
                </a:solidFill>
                <a:latin typeface="Univers Light"/>
              </a:rPr>
              <a:t>–0.03</a:t>
            </a:r>
          </a:p>
        </p:txBody>
      </p:sp>
      <p:sp>
        <p:nvSpPr>
          <p:cNvPr id="19" name="TextBox 18"/>
          <p:cNvSpPr txBox="1"/>
          <p:nvPr/>
        </p:nvSpPr>
        <p:spPr>
          <a:xfrm>
            <a:off x="1912274" y="4902200"/>
            <a:ext cx="609600" cy="152400"/>
          </a:xfrm>
          <a:prstGeom prst="rect">
            <a:avLst/>
          </a:prstGeom>
          <a:noFill/>
        </p:spPr>
        <p:txBody>
          <a:bodyPr wrap="square" lIns="0" tIns="0" rIns="0" bIns="0" anchor="t"/>
          <a:lstStyle/>
          <a:p>
            <a:pPr algn="ctr">
              <a:spcAft>
                <a:spcPts val="0"/>
              </a:spcAft>
              <a:buNone/>
            </a:pPr>
            <a:r>
              <a:rPr sz="900" b="1" i="0">
                <a:solidFill>
                  <a:srgbClr val="161616"/>
                </a:solidFill>
                <a:latin typeface="Univers Light"/>
              </a:rPr>
              <a:t>+0.06</a:t>
            </a:r>
          </a:p>
        </p:txBody>
      </p:sp>
      <p:sp>
        <p:nvSpPr>
          <p:cNvPr id="20" name="TextBox 19"/>
          <p:cNvSpPr txBox="1"/>
          <p:nvPr/>
        </p:nvSpPr>
        <p:spPr>
          <a:xfrm>
            <a:off x="2937509" y="4902200"/>
            <a:ext cx="609600" cy="152400"/>
          </a:xfrm>
          <a:prstGeom prst="rect">
            <a:avLst/>
          </a:prstGeom>
          <a:noFill/>
        </p:spPr>
        <p:txBody>
          <a:bodyPr wrap="square" lIns="0" tIns="0" rIns="0" bIns="0" anchor="t"/>
          <a:lstStyle/>
          <a:p>
            <a:pPr algn="ctr">
              <a:spcAft>
                <a:spcPts val="0"/>
              </a:spcAft>
              <a:buNone/>
            </a:pPr>
            <a:r>
              <a:rPr sz="900" b="1" i="0">
                <a:solidFill>
                  <a:srgbClr val="161616"/>
                </a:solidFill>
                <a:latin typeface="Univers Light"/>
              </a:rPr>
              <a:t>+0.19</a:t>
            </a:r>
          </a:p>
        </p:txBody>
      </p:sp>
      <p:sp>
        <p:nvSpPr>
          <p:cNvPr id="21" name="TextBox 20"/>
          <p:cNvSpPr txBox="1"/>
          <p:nvPr/>
        </p:nvSpPr>
        <p:spPr>
          <a:xfrm>
            <a:off x="3962745" y="4902200"/>
            <a:ext cx="609600" cy="152400"/>
          </a:xfrm>
          <a:prstGeom prst="rect">
            <a:avLst/>
          </a:prstGeom>
          <a:noFill/>
        </p:spPr>
        <p:txBody>
          <a:bodyPr wrap="square" lIns="0" tIns="0" rIns="0" bIns="0" anchor="t"/>
          <a:lstStyle/>
          <a:p>
            <a:pPr algn="ctr">
              <a:spcAft>
                <a:spcPts val="0"/>
              </a:spcAft>
              <a:buNone/>
            </a:pPr>
            <a:r>
              <a:rPr sz="900" b="1" i="0">
                <a:solidFill>
                  <a:srgbClr val="161616"/>
                </a:solidFill>
                <a:latin typeface="Univers Light"/>
              </a:rPr>
              <a:t>–0.13</a:t>
            </a:r>
          </a:p>
        </p:txBody>
      </p:sp>
      <p:sp>
        <p:nvSpPr>
          <p:cNvPr id="22" name="TextBox 21"/>
          <p:cNvSpPr txBox="1"/>
          <p:nvPr/>
        </p:nvSpPr>
        <p:spPr>
          <a:xfrm>
            <a:off x="4987980" y="4902200"/>
            <a:ext cx="609600" cy="152400"/>
          </a:xfrm>
          <a:prstGeom prst="rect">
            <a:avLst/>
          </a:prstGeom>
          <a:noFill/>
        </p:spPr>
        <p:txBody>
          <a:bodyPr wrap="square" lIns="0" tIns="0" rIns="0" bIns="0" anchor="t"/>
          <a:lstStyle/>
          <a:p>
            <a:pPr algn="ctr">
              <a:spcAft>
                <a:spcPts val="0"/>
              </a:spcAft>
              <a:buNone/>
            </a:pPr>
            <a:r>
              <a:rPr sz="900" b="1" i="0">
                <a:solidFill>
                  <a:srgbClr val="161616"/>
                </a:solidFill>
                <a:latin typeface="Univers Light"/>
              </a:rPr>
              <a:t>–0.29</a:t>
            </a:r>
          </a:p>
        </p:txBody>
      </p:sp>
      <p:sp>
        <p:nvSpPr>
          <p:cNvPr id="23" name="TextBox 22"/>
          <p:cNvSpPr txBox="1"/>
          <p:nvPr/>
        </p:nvSpPr>
        <p:spPr>
          <a:xfrm>
            <a:off x="6223000" y="1447800"/>
            <a:ext cx="5454650" cy="381000"/>
          </a:xfrm>
          <a:prstGeom prst="rect">
            <a:avLst/>
          </a:prstGeom>
          <a:noFill/>
        </p:spPr>
        <p:txBody>
          <a:bodyPr wrap="square" lIns="0" tIns="0" rIns="0" bIns="0" anchor="b"/>
          <a:lstStyle/>
          <a:p>
            <a:pPr algn="l">
              <a:spcAft>
                <a:spcPts val="0"/>
              </a:spcAft>
              <a:buNone/>
            </a:pPr>
            <a:r>
              <a:rPr sz="1200" b="1" i="0">
                <a:solidFill>
                  <a:srgbClr val="161616"/>
                </a:solidFill>
                <a:latin typeface="Univers Light"/>
              </a:rPr>
              <a:t>SIG spends ~4 pp more of revenue on opex than INTP, a structural gap that barely moved since FY21 (3.7 → 4.1 pp)</a:t>
            </a:r>
          </a:p>
        </p:txBody>
      </p:sp>
      <p:cxnSp>
        <p:nvCxnSpPr>
          <p:cNvPr id="24" name="Connector 23"/>
          <p:cNvCxnSpPr/>
          <p:nvPr/>
        </p:nvCxnSpPr>
        <p:spPr>
          <a:xfrm>
            <a:off x="6223000" y="1866900"/>
            <a:ext cx="5454650" cy="0"/>
          </a:xfrm>
          <a:prstGeom prst="line">
            <a:avLst/>
          </a:prstGeom>
          <a:ln w="19050">
            <a:solidFill>
              <a:srgbClr val="1E64B0"/>
            </a:solidFill>
          </a:ln>
        </p:spPr>
      </p:cxnSp>
      <p:sp>
        <p:nvSpPr>
          <p:cNvPr id="25" name="TextBox 24"/>
          <p:cNvSpPr txBox="1"/>
          <p:nvPr/>
        </p:nvSpPr>
        <p:spPr>
          <a:xfrm>
            <a:off x="6223000" y="1902460"/>
            <a:ext cx="5454650" cy="165100"/>
          </a:xfrm>
          <a:prstGeom prst="rect">
            <a:avLst/>
          </a:prstGeom>
          <a:noFill/>
        </p:spPr>
        <p:txBody>
          <a:bodyPr wrap="square" lIns="0" tIns="0" rIns="0" bIns="0" anchor="t"/>
          <a:lstStyle/>
          <a:p>
            <a:pPr algn="l">
              <a:spcAft>
                <a:spcPts val="0"/>
              </a:spcAft>
              <a:buNone/>
            </a:pPr>
            <a:r>
              <a:rPr sz="1050" b="0" i="0">
                <a:solidFill>
                  <a:srgbClr val="161616"/>
                </a:solidFill>
                <a:latin typeface="Univers Light"/>
              </a:rPr>
              <a:t>Core opex as % of revenue, same definition for both</a:t>
            </a:r>
          </a:p>
        </p:txBody>
      </p:sp>
      <p:graphicFrame>
        <p:nvGraphicFramePr>
          <p:cNvPr id="26" name="Chart opex intensity"/>
          <p:cNvGraphicFramePr>
            <a:graphicFrameLocks noGrp="1"/>
          </p:cNvGraphicFramePr>
          <p:nvPr>
            <p:extLst>
              <p:ext uri="{D42A27DB-BD31-4B8C-83A1-F6EECF244321}">
                <p14:modId xmlns:p14="http://schemas.microsoft.com/office/powerpoint/2010/main" val="2548143271"/>
              </p:ext>
            </p:extLst>
          </p:nvPr>
        </p:nvGraphicFramePr>
        <p:xfrm>
          <a:off x="6223000" y="2108200"/>
          <a:ext cx="3810000" cy="2946400"/>
        </p:xfrm>
        <a:graphic>
          <a:graphicData uri="http://schemas.openxmlformats.org/drawingml/2006/chart">
            <c:chart xmlns:c="http://schemas.openxmlformats.org/drawingml/2006/chart" xmlns:r="http://schemas.openxmlformats.org/officeDocument/2006/relationships" r:id="rId4"/>
          </a:graphicData>
        </a:graphic>
      </p:graphicFrame>
      <p:cxnSp>
        <p:nvCxnSpPr>
          <p:cNvPr id="27" name="Connector 26"/>
          <p:cNvCxnSpPr/>
          <p:nvPr/>
        </p:nvCxnSpPr>
        <p:spPr>
          <a:xfrm>
            <a:off x="10083800" y="3117850"/>
            <a:ext cx="177800" cy="0"/>
          </a:xfrm>
          <a:prstGeom prst="line">
            <a:avLst/>
          </a:prstGeom>
          <a:ln w="19050">
            <a:solidFill>
              <a:srgbClr val="083358"/>
            </a:solidFill>
          </a:ln>
        </p:spPr>
      </p:cxnSp>
      <p:sp>
        <p:nvSpPr>
          <p:cNvPr id="28" name="Oval 27"/>
          <p:cNvSpPr/>
          <p:nvPr/>
        </p:nvSpPr>
        <p:spPr>
          <a:xfrm>
            <a:off x="10140950" y="3086100"/>
            <a:ext cx="63500" cy="63500"/>
          </a:xfrm>
          <a:prstGeom prst="ellipse">
            <a:avLst/>
          </a:prstGeom>
          <a:solidFill>
            <a:srgbClr val="083358"/>
          </a:solidFill>
          <a:ln>
            <a:noFill/>
          </a:ln>
        </p:spPr>
        <p:txBody>
          <a:bodyPr lIns="0" tIns="0" rIns="0" bIns="0" rtlCol="0" anchor="ctr"/>
          <a:lstStyle/>
          <a:p>
            <a:pPr algn="ctr"/>
            <a:endParaRPr/>
          </a:p>
        </p:txBody>
      </p:sp>
      <p:sp>
        <p:nvSpPr>
          <p:cNvPr id="29" name="TextBox 28"/>
          <p:cNvSpPr txBox="1"/>
          <p:nvPr/>
        </p:nvSpPr>
        <p:spPr>
          <a:xfrm>
            <a:off x="10312400" y="3048000"/>
            <a:ext cx="211962" cy="139700"/>
          </a:xfrm>
          <a:prstGeom prst="rect">
            <a:avLst/>
          </a:prstGeom>
          <a:noFill/>
        </p:spPr>
        <p:txBody>
          <a:bodyPr wrap="none" lIns="0" tIns="0" rIns="0" bIns="0" anchor="ctr"/>
          <a:lstStyle/>
          <a:p>
            <a:pPr algn="l">
              <a:spcAft>
                <a:spcPts val="0"/>
              </a:spcAft>
              <a:buNone/>
            </a:pPr>
            <a:r>
              <a:rPr sz="900" b="0" i="0">
                <a:solidFill>
                  <a:srgbClr val="161616"/>
                </a:solidFill>
                <a:latin typeface="Univers Light"/>
              </a:rPr>
              <a:t>SIG</a:t>
            </a:r>
          </a:p>
        </p:txBody>
      </p:sp>
      <p:cxnSp>
        <p:nvCxnSpPr>
          <p:cNvPr id="30" name="Connector 29"/>
          <p:cNvCxnSpPr/>
          <p:nvPr/>
        </p:nvCxnSpPr>
        <p:spPr>
          <a:xfrm>
            <a:off x="10083800" y="3295650"/>
            <a:ext cx="177800" cy="0"/>
          </a:xfrm>
          <a:prstGeom prst="line">
            <a:avLst/>
          </a:prstGeom>
          <a:ln w="19050">
            <a:solidFill>
              <a:srgbClr val="358FD1"/>
            </a:solidFill>
          </a:ln>
        </p:spPr>
      </p:cxnSp>
      <p:sp>
        <p:nvSpPr>
          <p:cNvPr id="31" name="Oval 30"/>
          <p:cNvSpPr/>
          <p:nvPr/>
        </p:nvSpPr>
        <p:spPr>
          <a:xfrm>
            <a:off x="10140950" y="3263900"/>
            <a:ext cx="63500" cy="63500"/>
          </a:xfrm>
          <a:prstGeom prst="ellipse">
            <a:avLst/>
          </a:prstGeom>
          <a:solidFill>
            <a:srgbClr val="358FD1"/>
          </a:solidFill>
          <a:ln>
            <a:noFill/>
          </a:ln>
        </p:spPr>
        <p:txBody>
          <a:bodyPr lIns="0" tIns="0" rIns="0" bIns="0" rtlCol="0" anchor="ctr"/>
          <a:lstStyle/>
          <a:p>
            <a:pPr algn="ctr"/>
            <a:endParaRPr/>
          </a:p>
        </p:txBody>
      </p:sp>
      <p:sp>
        <p:nvSpPr>
          <p:cNvPr id="32" name="TextBox 31"/>
          <p:cNvSpPr txBox="1"/>
          <p:nvPr/>
        </p:nvSpPr>
        <p:spPr>
          <a:xfrm>
            <a:off x="10312400" y="3225800"/>
            <a:ext cx="265684" cy="139700"/>
          </a:xfrm>
          <a:prstGeom prst="rect">
            <a:avLst/>
          </a:prstGeom>
          <a:noFill/>
        </p:spPr>
        <p:txBody>
          <a:bodyPr wrap="none" lIns="0" tIns="0" rIns="0" bIns="0" anchor="ctr"/>
          <a:lstStyle/>
          <a:p>
            <a:pPr algn="l">
              <a:spcAft>
                <a:spcPts val="0"/>
              </a:spcAft>
              <a:buNone/>
            </a:pPr>
            <a:r>
              <a:rPr sz="900" b="0" i="0">
                <a:solidFill>
                  <a:srgbClr val="161616"/>
                </a:solidFill>
                <a:latin typeface="Univers Light"/>
              </a:rPr>
              <a:t>INTP</a:t>
            </a:r>
          </a:p>
        </p:txBody>
      </p:sp>
      <p:sp>
        <p:nvSpPr>
          <p:cNvPr id="33" name="TextBox 32"/>
          <p:cNvSpPr txBox="1"/>
          <p:nvPr/>
        </p:nvSpPr>
        <p:spPr>
          <a:xfrm>
            <a:off x="10712450" y="2184400"/>
            <a:ext cx="1143000" cy="165100"/>
          </a:xfrm>
          <a:prstGeom prst="rect">
            <a:avLst/>
          </a:prstGeom>
          <a:noFill/>
        </p:spPr>
        <p:txBody>
          <a:bodyPr wrap="none" lIns="0" tIns="0" rIns="0" bIns="0" anchor="b"/>
          <a:lstStyle/>
          <a:p>
            <a:pPr algn="ctr">
              <a:spcAft>
                <a:spcPts val="0"/>
              </a:spcAft>
              <a:buNone/>
            </a:pPr>
            <a:r>
              <a:rPr sz="1000" b="1" i="0" dirty="0">
                <a:solidFill>
                  <a:srgbClr val="1E64B0"/>
                </a:solidFill>
                <a:latin typeface="Univers Light"/>
              </a:rPr>
              <a:t>Avg 21–25</a:t>
            </a:r>
          </a:p>
        </p:txBody>
      </p:sp>
      <p:sp>
        <p:nvSpPr>
          <p:cNvPr id="34" name="Rounded Rectangle 33"/>
          <p:cNvSpPr/>
          <p:nvPr/>
        </p:nvSpPr>
        <p:spPr>
          <a:xfrm>
            <a:off x="10890250" y="2387600"/>
            <a:ext cx="787400" cy="342900"/>
          </a:xfrm>
          <a:prstGeom prst="roundRect">
            <a:avLst>
              <a:gd name="adj" fmla="val 18000"/>
            </a:avLst>
          </a:prstGeom>
          <a:solidFill>
            <a:srgbClr val="083358"/>
          </a:solidFill>
          <a:ln>
            <a:noFill/>
          </a:ln>
        </p:spPr>
        <p:txBody>
          <a:bodyPr wrap="square" lIns="0" tIns="0" rIns="0" bIns="0" rtlCol="0" anchor="ctr"/>
          <a:lstStyle/>
          <a:p>
            <a:pPr algn="ctr">
              <a:spcAft>
                <a:spcPts val="0"/>
              </a:spcAft>
              <a:buNone/>
            </a:pPr>
            <a:r>
              <a:rPr sz="850" b="0" i="0">
                <a:solidFill>
                  <a:srgbClr val="FFFFFF"/>
                </a:solidFill>
                <a:latin typeface="Univers Light"/>
              </a:rPr>
              <a:t>SIG</a:t>
            </a:r>
          </a:p>
          <a:p>
            <a:pPr algn="ctr">
              <a:spcAft>
                <a:spcPts val="0"/>
              </a:spcAft>
              <a:buNone/>
            </a:pPr>
            <a:r>
              <a:rPr sz="1100" b="1" i="0">
                <a:solidFill>
                  <a:srgbClr val="FFFFFF"/>
                </a:solidFill>
                <a:latin typeface="Univers Light"/>
              </a:rPr>
              <a:t>11.4%</a:t>
            </a:r>
          </a:p>
        </p:txBody>
      </p:sp>
      <p:sp>
        <p:nvSpPr>
          <p:cNvPr id="35" name="Rounded Rectangle 34"/>
          <p:cNvSpPr/>
          <p:nvPr/>
        </p:nvSpPr>
        <p:spPr>
          <a:xfrm>
            <a:off x="10890250" y="2781300"/>
            <a:ext cx="787400" cy="342900"/>
          </a:xfrm>
          <a:prstGeom prst="roundRect">
            <a:avLst>
              <a:gd name="adj" fmla="val 18000"/>
            </a:avLst>
          </a:prstGeom>
          <a:solidFill>
            <a:srgbClr val="358FD1"/>
          </a:solidFill>
          <a:ln>
            <a:noFill/>
          </a:ln>
        </p:spPr>
        <p:txBody>
          <a:bodyPr wrap="square" lIns="0" tIns="0" rIns="0" bIns="0" rtlCol="0" anchor="ctr"/>
          <a:lstStyle/>
          <a:p>
            <a:pPr algn="ctr">
              <a:spcAft>
                <a:spcPts val="0"/>
              </a:spcAft>
              <a:buNone/>
            </a:pPr>
            <a:r>
              <a:rPr sz="850" b="0" i="0">
                <a:solidFill>
                  <a:srgbClr val="FFFFFF"/>
                </a:solidFill>
                <a:latin typeface="Univers Light"/>
              </a:rPr>
              <a:t>INTP</a:t>
            </a:r>
          </a:p>
          <a:p>
            <a:pPr algn="ctr">
              <a:spcAft>
                <a:spcPts val="0"/>
              </a:spcAft>
              <a:buNone/>
            </a:pPr>
            <a:r>
              <a:rPr sz="1100" b="1" i="0">
                <a:solidFill>
                  <a:srgbClr val="FFFFFF"/>
                </a:solidFill>
                <a:latin typeface="Univers Light"/>
              </a:rPr>
              <a:t>7.7%</a:t>
            </a:r>
          </a:p>
        </p:txBody>
      </p:sp>
      <p:sp>
        <p:nvSpPr>
          <p:cNvPr id="36" name="TextBox 35"/>
          <p:cNvSpPr txBox="1"/>
          <p:nvPr/>
        </p:nvSpPr>
        <p:spPr>
          <a:xfrm>
            <a:off x="10712450" y="3327400"/>
            <a:ext cx="1143000" cy="165100"/>
          </a:xfrm>
          <a:prstGeom prst="rect">
            <a:avLst/>
          </a:prstGeom>
          <a:noFill/>
        </p:spPr>
        <p:txBody>
          <a:bodyPr wrap="none" lIns="0" tIns="0" rIns="0" bIns="0" anchor="b"/>
          <a:lstStyle/>
          <a:p>
            <a:pPr algn="ctr">
              <a:spcAft>
                <a:spcPts val="0"/>
              </a:spcAft>
              <a:buNone/>
            </a:pPr>
            <a:r>
              <a:rPr sz="1000" b="1" i="0" dirty="0">
                <a:solidFill>
                  <a:srgbClr val="1E64B0"/>
                </a:solidFill>
                <a:latin typeface="Univers Light"/>
              </a:rPr>
              <a:t>Gap, pp</a:t>
            </a:r>
          </a:p>
        </p:txBody>
      </p:sp>
      <p:sp>
        <p:nvSpPr>
          <p:cNvPr id="37" name="Rounded Rectangle 36"/>
          <p:cNvSpPr/>
          <p:nvPr/>
        </p:nvSpPr>
        <p:spPr>
          <a:xfrm>
            <a:off x="10890250" y="3530600"/>
            <a:ext cx="787400" cy="342900"/>
          </a:xfrm>
          <a:prstGeom prst="roundRect">
            <a:avLst>
              <a:gd name="adj" fmla="val 18000"/>
            </a:avLst>
          </a:prstGeom>
          <a:solidFill>
            <a:srgbClr val="F2F2F2"/>
          </a:solidFill>
          <a:ln w="9525">
            <a:solidFill>
              <a:srgbClr val="7F7F7F"/>
            </a:solidFill>
            <a:prstDash val="dash"/>
          </a:ln>
        </p:spPr>
        <p:txBody>
          <a:bodyPr wrap="square" lIns="0" tIns="0" rIns="0" bIns="0" rtlCol="0" anchor="ctr"/>
          <a:lstStyle/>
          <a:p>
            <a:pPr algn="ctr">
              <a:spcAft>
                <a:spcPts val="0"/>
              </a:spcAft>
              <a:buNone/>
            </a:pPr>
            <a:r>
              <a:rPr sz="850" b="0" i="0">
                <a:solidFill>
                  <a:srgbClr val="161616"/>
                </a:solidFill>
                <a:latin typeface="Univers Light"/>
              </a:rPr>
              <a:t>FY21</a:t>
            </a:r>
          </a:p>
          <a:p>
            <a:pPr algn="ctr">
              <a:spcAft>
                <a:spcPts val="0"/>
              </a:spcAft>
              <a:buNone/>
            </a:pPr>
            <a:r>
              <a:rPr sz="1100" b="1" i="0">
                <a:solidFill>
                  <a:srgbClr val="161616"/>
                </a:solidFill>
                <a:latin typeface="Univers Light"/>
              </a:rPr>
              <a:t>3.7</a:t>
            </a:r>
          </a:p>
        </p:txBody>
      </p:sp>
      <p:sp>
        <p:nvSpPr>
          <p:cNvPr id="38" name="Rounded Rectangle 37"/>
          <p:cNvSpPr/>
          <p:nvPr/>
        </p:nvSpPr>
        <p:spPr>
          <a:xfrm>
            <a:off x="10890250" y="3924300"/>
            <a:ext cx="787400" cy="342900"/>
          </a:xfrm>
          <a:prstGeom prst="roundRect">
            <a:avLst>
              <a:gd name="adj" fmla="val 18000"/>
            </a:avLst>
          </a:prstGeom>
          <a:solidFill>
            <a:srgbClr val="F2F2F2"/>
          </a:solidFill>
          <a:ln w="9525">
            <a:solidFill>
              <a:srgbClr val="7F7F7F"/>
            </a:solidFill>
            <a:prstDash val="dash"/>
          </a:ln>
        </p:spPr>
        <p:txBody>
          <a:bodyPr wrap="square" lIns="0" tIns="0" rIns="0" bIns="0" rtlCol="0" anchor="ctr"/>
          <a:lstStyle/>
          <a:p>
            <a:pPr algn="ctr">
              <a:spcAft>
                <a:spcPts val="0"/>
              </a:spcAft>
              <a:buNone/>
            </a:pPr>
            <a:r>
              <a:rPr sz="850" b="0" i="0">
                <a:solidFill>
                  <a:srgbClr val="161616"/>
                </a:solidFill>
                <a:latin typeface="Univers Light"/>
              </a:rPr>
              <a:t>FY25</a:t>
            </a:r>
          </a:p>
          <a:p>
            <a:pPr algn="ctr">
              <a:spcAft>
                <a:spcPts val="0"/>
              </a:spcAft>
              <a:buNone/>
            </a:pPr>
            <a:r>
              <a:rPr sz="1100" b="1" i="0">
                <a:solidFill>
                  <a:srgbClr val="161616"/>
                </a:solidFill>
                <a:latin typeface="Univers Light"/>
              </a:rPr>
              <a:t>4.1</a:t>
            </a:r>
          </a:p>
        </p:txBody>
      </p:sp>
      <p:sp>
        <p:nvSpPr>
          <p:cNvPr id="39" name="Rectangle 38"/>
          <p:cNvSpPr/>
          <p:nvPr/>
        </p:nvSpPr>
        <p:spPr>
          <a:xfrm>
            <a:off x="515620" y="5181600"/>
            <a:ext cx="11162030" cy="1092200"/>
          </a:xfrm>
          <a:prstGeom prst="rect">
            <a:avLst/>
          </a:prstGeom>
          <a:solidFill>
            <a:srgbClr val="F2F2F2"/>
          </a:solidFill>
          <a:ln w="9525">
            <a:solidFill>
              <a:srgbClr val="BFBFBF"/>
            </a:solidFill>
            <a:prstDash val="dash"/>
          </a:ln>
        </p:spPr>
        <p:txBody>
          <a:bodyPr lIns="0" tIns="0" rIns="0" bIns="0" rtlCol="0" anchor="ctr"/>
          <a:lstStyle/>
          <a:p>
            <a:pPr algn="ctr"/>
            <a:endParaRPr/>
          </a:p>
        </p:txBody>
      </p:sp>
      <p:sp>
        <p:nvSpPr>
          <p:cNvPr id="40" name="TextBox 39"/>
          <p:cNvSpPr txBox="1"/>
          <p:nvPr/>
        </p:nvSpPr>
        <p:spPr>
          <a:xfrm>
            <a:off x="642620" y="5245100"/>
            <a:ext cx="2540000" cy="177800"/>
          </a:xfrm>
          <a:prstGeom prst="rect">
            <a:avLst/>
          </a:prstGeom>
          <a:noFill/>
        </p:spPr>
        <p:txBody>
          <a:bodyPr wrap="square" lIns="0" tIns="0" rIns="0" bIns="0" anchor="t"/>
          <a:lstStyle/>
          <a:p>
            <a:pPr algn="l">
              <a:spcAft>
                <a:spcPts val="0"/>
              </a:spcAft>
              <a:buNone/>
            </a:pPr>
            <a:r>
              <a:rPr sz="1100" b="1" i="0" dirty="0">
                <a:solidFill>
                  <a:srgbClr val="0F1F33"/>
                </a:solidFill>
                <a:latin typeface="Univers Light"/>
              </a:rPr>
              <a:t>Key takeaways</a:t>
            </a:r>
          </a:p>
        </p:txBody>
      </p:sp>
      <p:sp>
        <p:nvSpPr>
          <p:cNvPr id="41" name="TextBox 40"/>
          <p:cNvSpPr txBox="1"/>
          <p:nvPr/>
        </p:nvSpPr>
        <p:spPr>
          <a:xfrm>
            <a:off x="642620" y="5473700"/>
            <a:ext cx="3500543" cy="749300"/>
          </a:xfrm>
          <a:prstGeom prst="rect">
            <a:avLst/>
          </a:prstGeom>
          <a:noFill/>
        </p:spPr>
        <p:txBody>
          <a:bodyPr wrap="square" lIns="0" tIns="0" rIns="0" bIns="0" anchor="t"/>
          <a:lstStyle/>
          <a:p>
            <a:pPr algn="l">
              <a:spcAft>
                <a:spcPts val="0"/>
              </a:spcAft>
              <a:buNone/>
            </a:pPr>
            <a:r>
              <a:rPr sz="1050" b="1" i="0">
                <a:solidFill>
                  <a:srgbClr val="161616"/>
                </a:solidFill>
                <a:latin typeface="Univers Light"/>
              </a:rPr>
              <a:t>Not the problem, stays at BAU. </a:t>
            </a:r>
            <a:r>
              <a:rPr sz="1050" b="0" i="0">
                <a:solidFill>
                  <a:srgbClr val="161616"/>
                </a:solidFill>
                <a:latin typeface="Univers Light"/>
              </a:rPr>
              <a:t>Core opex grew 1.5% a year, below sector producer prices (2.9%) and INTP (7.2%), and explains only 1.2 of the 10.6 pp fall in SIG's EBIT margin.</a:t>
            </a:r>
          </a:p>
        </p:txBody>
      </p:sp>
      <p:sp>
        <p:nvSpPr>
          <p:cNvPr id="42" name="TextBox 41"/>
          <p:cNvSpPr txBox="1"/>
          <p:nvPr/>
        </p:nvSpPr>
        <p:spPr>
          <a:xfrm>
            <a:off x="4346363" y="5473700"/>
            <a:ext cx="3500543" cy="749300"/>
          </a:xfrm>
          <a:prstGeom prst="rect">
            <a:avLst/>
          </a:prstGeom>
          <a:noFill/>
        </p:spPr>
        <p:txBody>
          <a:bodyPr wrap="square" lIns="0" tIns="0" rIns="0" bIns="0" anchor="t"/>
          <a:lstStyle/>
          <a:p>
            <a:pPr algn="l">
              <a:spcAft>
                <a:spcPts val="0"/>
              </a:spcAft>
              <a:buNone/>
            </a:pPr>
            <a:r>
              <a:rPr sz="1050" b="1" i="0">
                <a:solidFill>
                  <a:srgbClr val="161616"/>
                </a:solidFill>
                <a:latin typeface="Univers Light"/>
              </a:rPr>
              <a:t>The gap is structural. </a:t>
            </a:r>
            <a:r>
              <a:rPr sz="1050" b="0" i="0">
                <a:solidFill>
                  <a:srgbClr val="161616"/>
                </a:solidFill>
                <a:latin typeface="Univers Light"/>
              </a:rPr>
              <a:t>SIG runs a holding with many entities and multiple brands. The gap barely moved (3.7 → 4.1 pp), so it did not cause the decline, but streamlining can narrow it.</a:t>
            </a:r>
          </a:p>
        </p:txBody>
      </p:sp>
      <p:sp>
        <p:nvSpPr>
          <p:cNvPr id="43" name="TextBox 42"/>
          <p:cNvSpPr txBox="1"/>
          <p:nvPr/>
        </p:nvSpPr>
        <p:spPr>
          <a:xfrm>
            <a:off x="8050106" y="5473700"/>
            <a:ext cx="3500543" cy="749300"/>
          </a:xfrm>
          <a:prstGeom prst="rect">
            <a:avLst/>
          </a:prstGeom>
          <a:noFill/>
        </p:spPr>
        <p:txBody>
          <a:bodyPr wrap="square" lIns="0" tIns="0" rIns="0" bIns="0" anchor="t"/>
          <a:lstStyle/>
          <a:p>
            <a:pPr algn="l">
              <a:spcAft>
                <a:spcPts val="0"/>
              </a:spcAft>
              <a:buNone/>
            </a:pPr>
            <a:r>
              <a:rPr sz="1050" b="1" i="0">
                <a:solidFill>
                  <a:srgbClr val="161616"/>
                </a:solidFill>
                <a:latin typeface="Univers Light"/>
              </a:rPr>
              <a:t>Devil's advocate check. </a:t>
            </a:r>
            <a:r>
              <a:rPr sz="1050" b="0" i="0">
                <a:solidFill>
                  <a:srgbClr val="161616"/>
                </a:solidFill>
                <a:latin typeface="Univers Light"/>
              </a:rPr>
              <a:t>Adding other operating items (FY25 net expense Rp0.29 T) lifts SIG's opex growth to 2.9% a year, in line with sector producer prices (2.9%) and far below INTP (12.5%).</a:t>
            </a:r>
          </a:p>
        </p:txBody>
      </p:sp>
    </p:spTree>
    <p:extLst>
      <p:ext uri="{BB962C8B-B14F-4D97-AF65-F5344CB8AC3E}">
        <p14:creationId xmlns:p14="http://schemas.microsoft.com/office/powerpoint/2010/main" val="2621758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FB102C0-4844-476C-8794-F5E16DD005CD}">
  <ds:schemaRefs>
    <ds:schemaRef ds:uri="http://schemas.microsoft.com/sharepoint/v3/contenttype/forms"/>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3326</TotalTime>
  <Words>708</Words>
  <Application>Microsoft Office PowerPoint</Application>
  <PresentationFormat>Widescreen</PresentationFormat>
  <Paragraphs>65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Univers LT Std 55</vt:lpstr>
      <vt:lpstr>Ambit </vt:lpstr>
      <vt:lpstr>Univers</vt:lpstr>
      <vt:lpstr>Univers Light</vt:lpstr>
      <vt:lpstr>Ambit Light</vt:lpstr>
      <vt:lpstr>Arial</vt:lpstr>
      <vt:lpstr>Office Theme</vt:lpstr>
      <vt:lpstr>OPEX deep dive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Razaan Rasyid</cp:lastModifiedBy>
  <cp:revision>4</cp:revision>
  <cp:lastPrinted>2026-10-11T11:17:34Z</cp:lastPrinted>
  <dcterms:modified xsi:type="dcterms:W3CDTF">2026-10-18T12:32:51Z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